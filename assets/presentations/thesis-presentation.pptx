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4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25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2" r:id="rId2"/>
    <p:sldId id="334" r:id="rId3"/>
    <p:sldId id="316" r:id="rId4"/>
    <p:sldId id="287" r:id="rId5"/>
    <p:sldId id="333" r:id="rId6"/>
    <p:sldId id="288" r:id="rId7"/>
    <p:sldId id="289" r:id="rId8"/>
    <p:sldId id="321" r:id="rId9"/>
    <p:sldId id="291" r:id="rId10"/>
    <p:sldId id="295" r:id="rId11"/>
    <p:sldId id="292" r:id="rId12"/>
    <p:sldId id="313" r:id="rId13"/>
    <p:sldId id="314" r:id="rId14"/>
    <p:sldId id="311" r:id="rId15"/>
    <p:sldId id="299" r:id="rId16"/>
    <p:sldId id="332" r:id="rId17"/>
    <p:sldId id="315" r:id="rId18"/>
    <p:sldId id="326" r:id="rId19"/>
    <p:sldId id="312" r:id="rId20"/>
    <p:sldId id="331" r:id="rId21"/>
    <p:sldId id="327" r:id="rId22"/>
    <p:sldId id="329" r:id="rId23"/>
    <p:sldId id="328" r:id="rId24"/>
    <p:sldId id="317" r:id="rId25"/>
    <p:sldId id="318" r:id="rId26"/>
    <p:sldId id="330" r:id="rId27"/>
    <p:sldId id="325" r:id="rId28"/>
    <p:sldId id="309" r:id="rId2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DE21"/>
    <a:srgbClr val="FF0000"/>
    <a:srgbClr val="333300"/>
    <a:srgbClr val="663300"/>
    <a:srgbClr val="996633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91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23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3278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Foglio1!$B$1</c:f>
              <c:strCache>
                <c:ptCount val="1"/>
                <c:pt idx="0">
                  <c:v>Failure/Clarification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86E-43D9-AB30-2D50B26E4B6D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86E-43D9-AB30-2D50B26E4B6D}"/>
              </c:ext>
            </c:extLst>
          </c:dPt>
          <c:cat>
            <c:strRef>
              <c:f>Foglio1!$A$2:$A$3</c:f>
              <c:strCache>
                <c:ptCount val="2"/>
                <c:pt idx="0">
                  <c:v>Failure</c:v>
                </c:pt>
                <c:pt idx="1">
                  <c:v>Clarification</c:v>
                </c:pt>
              </c:strCache>
            </c:strRef>
          </c:cat>
          <c:val>
            <c:numRef>
              <c:f>Foglio1!$B$2:$B$3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70-4D13-BCF9-BB7B49E3E5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Foglio1!$B$1</c:f>
              <c:strCache>
                <c:ptCount val="1"/>
                <c:pt idx="0">
                  <c:v>Regular/Clarification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379-4D44-ABF2-9C481EBA50F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379-4D44-ABF2-9C481EBA50FA}"/>
              </c:ext>
            </c:extLst>
          </c:dPt>
          <c:cat>
            <c:strRef>
              <c:f>Foglio1!$A$2:$A$3</c:f>
              <c:strCache>
                <c:ptCount val="2"/>
                <c:pt idx="0">
                  <c:v>Regular</c:v>
                </c:pt>
                <c:pt idx="1">
                  <c:v>Clarification</c:v>
                </c:pt>
              </c:strCache>
            </c:strRef>
          </c:cat>
          <c:val>
            <c:numRef>
              <c:f>Foglio1!$B$2:$B$3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79-4D44-ABF2-9C481EBA5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SRC score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>
        <c:manualLayout>
          <c:layoutTarget val="inner"/>
          <c:xMode val="edge"/>
          <c:yMode val="edge"/>
          <c:x val="7.4588582677165352E-2"/>
          <c:y val="0.11555849436771073"/>
          <c:w val="0.92541141732283461"/>
          <c:h val="0.767729591059941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Correctly classified examples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731-40BB-A3AF-079376F5CD0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731-40BB-A3AF-079376F5CD0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Foglio1!$A$2:$A$5</c:f>
              <c:strCache>
                <c:ptCount val="3"/>
                <c:pt idx="0">
                  <c:v>ALL EXAMPLES</c:v>
                </c:pt>
                <c:pt idx="1">
                  <c:v>CORRECT EXAMPLES</c:v>
                </c:pt>
                <c:pt idx="2">
                  <c:v>WRONG EXAMPLES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97.6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2A-431B-A4BA-4B2F24C4FECB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SRC score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Foglio1!$A$2:$A$5</c:f>
              <c:strCache>
                <c:ptCount val="3"/>
                <c:pt idx="0">
                  <c:v>ALL EXAMPLES</c:v>
                </c:pt>
                <c:pt idx="1">
                  <c:v>CORRECT EXAMPLES</c:v>
                </c:pt>
                <c:pt idx="2">
                  <c:v>WRONG EXAMPLES</c:v>
                </c:pt>
              </c:strCache>
            </c:strRef>
          </c:cat>
          <c:val>
            <c:numRef>
              <c:f>Foglio1!$C$2:$C$5</c:f>
              <c:numCache>
                <c:formatCode>General</c:formatCode>
                <c:ptCount val="4"/>
                <c:pt idx="0">
                  <c:v>46.7</c:v>
                </c:pt>
                <c:pt idx="1">
                  <c:v>46.8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2A-431B-A4BA-4B2F24C4FE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15904992"/>
        <c:axId val="1615893952"/>
      </c:barChart>
      <c:catAx>
        <c:axId val="1615904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615893952"/>
        <c:crosses val="autoZero"/>
        <c:auto val="1"/>
        <c:lblAlgn val="ctr"/>
        <c:lblOffset val="100"/>
        <c:noMultiLvlLbl val="0"/>
      </c:catAx>
      <c:valAx>
        <c:axId val="1615893952"/>
        <c:scaling>
          <c:orientation val="minMax"/>
          <c:max val="1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1615904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OC score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>
        <c:manualLayout>
          <c:layoutTarget val="inner"/>
          <c:xMode val="edge"/>
          <c:yMode val="edge"/>
          <c:x val="7.4588582677165352E-2"/>
          <c:y val="0.11555849436771073"/>
          <c:w val="0.92541141732283461"/>
          <c:h val="0.767729591059941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Correctly classified examples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B2F-4D2B-862E-2DCAFBE82926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B2F-4D2B-862E-2DCAFBE8292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Foglio1!$A$2:$A$5</c:f>
              <c:strCache>
                <c:ptCount val="3"/>
                <c:pt idx="0">
                  <c:v>ALL EXAMPLES</c:v>
                </c:pt>
                <c:pt idx="1">
                  <c:v>CORRECT EXAMPLES</c:v>
                </c:pt>
                <c:pt idx="2">
                  <c:v>WRONG EXAMPLES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97.6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2A-431B-A4BA-4B2F24C4FECB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SRC score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Foglio1!$A$2:$A$5</c:f>
              <c:strCache>
                <c:ptCount val="3"/>
                <c:pt idx="0">
                  <c:v>ALL EXAMPLES</c:v>
                </c:pt>
                <c:pt idx="1">
                  <c:v>CORRECT EXAMPLES</c:v>
                </c:pt>
                <c:pt idx="2">
                  <c:v>WRONG EXAMPLES</c:v>
                </c:pt>
              </c:strCache>
            </c:strRef>
          </c:cat>
          <c:val>
            <c:numRef>
              <c:f>Foglio1!$C$2:$C$5</c:f>
              <c:numCache>
                <c:formatCode>General</c:formatCode>
                <c:ptCount val="4"/>
                <c:pt idx="0">
                  <c:v>96.1</c:v>
                </c:pt>
                <c:pt idx="1">
                  <c:v>96.6</c:v>
                </c:pt>
                <c:pt idx="2">
                  <c:v>71.400000000000006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2A-431B-A4BA-4B2F24C4FEC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615904992"/>
        <c:axId val="1615893952"/>
      </c:barChart>
      <c:catAx>
        <c:axId val="1615904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615893952"/>
        <c:crosses val="autoZero"/>
        <c:auto val="1"/>
        <c:lblAlgn val="ctr"/>
        <c:lblOffset val="100"/>
        <c:noMultiLvlLbl val="0"/>
      </c:catAx>
      <c:valAx>
        <c:axId val="1615893952"/>
        <c:scaling>
          <c:orientation val="minMax"/>
          <c:max val="10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615904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SUCCESS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SLM MANAGER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Foglio1!$A$2</c:f>
              <c:numCache>
                <c:formatCode>General</c:formatCode>
                <c:ptCount val="1"/>
              </c:numCache>
            </c:numRef>
          </c:cat>
          <c:val>
            <c:numRef>
              <c:f>Foglio1!$B$2</c:f>
              <c:numCache>
                <c:formatCode>General</c:formatCode>
                <c:ptCount val="1"/>
                <c:pt idx="0">
                  <c:v>93.8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C7-4F83-800D-6AB1C38C7F9B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RULE-BASED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Foglio1!$A$2</c:f>
              <c:numCache>
                <c:formatCode>General</c:formatCode>
                <c:ptCount val="1"/>
              </c:numCache>
            </c:numRef>
          </c:cat>
          <c:val>
            <c:numRef>
              <c:f>Foglio1!$C$2</c:f>
              <c:numCache>
                <c:formatCode>General</c:formatCode>
                <c:ptCount val="1"/>
                <c:pt idx="0">
                  <c:v>96.9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C7-4F83-800D-6AB1C38C7F9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389369599"/>
        <c:axId val="1389386399"/>
      </c:barChart>
      <c:catAx>
        <c:axId val="13893695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89386399"/>
        <c:crosses val="autoZero"/>
        <c:auto val="1"/>
        <c:lblAlgn val="ctr"/>
        <c:lblOffset val="100"/>
        <c:noMultiLvlLbl val="0"/>
      </c:catAx>
      <c:valAx>
        <c:axId val="1389386399"/>
        <c:scaling>
          <c:orientation val="minMax"/>
          <c:max val="100"/>
          <c:min val="0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89369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CPU (GHz)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Foglio1!$A$2:$A$13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Foglio1!$B$2:$B$13</c:f>
              <c:numCache>
                <c:formatCode>General</c:formatCode>
                <c:ptCount val="12"/>
                <c:pt idx="0">
                  <c:v>0.3</c:v>
                </c:pt>
                <c:pt idx="1">
                  <c:v>0.39</c:v>
                </c:pt>
                <c:pt idx="2">
                  <c:v>0.48</c:v>
                </c:pt>
                <c:pt idx="3">
                  <c:v>0.36</c:v>
                </c:pt>
                <c:pt idx="4">
                  <c:v>0.42</c:v>
                </c:pt>
                <c:pt idx="5">
                  <c:v>0.24</c:v>
                </c:pt>
                <c:pt idx="6">
                  <c:v>0.31</c:v>
                </c:pt>
                <c:pt idx="7">
                  <c:v>0.22</c:v>
                </c:pt>
                <c:pt idx="8">
                  <c:v>0.49</c:v>
                </c:pt>
                <c:pt idx="9">
                  <c:v>0.4</c:v>
                </c:pt>
                <c:pt idx="10">
                  <c:v>1</c:v>
                </c:pt>
                <c:pt idx="11">
                  <c:v>0.55000000000000004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A35-4A2E-A1D5-C477A34D1B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77443312"/>
        <c:axId val="977449072"/>
      </c:scatterChart>
      <c:valAx>
        <c:axId val="977443312"/>
        <c:scaling>
          <c:orientation val="minMax"/>
          <c:max val="1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77449072"/>
        <c:crosses val="autoZero"/>
        <c:crossBetween val="midCat"/>
      </c:valAx>
      <c:valAx>
        <c:axId val="977449072"/>
        <c:scaling>
          <c:orientation val="minMax"/>
          <c:min val="0.3000000000000000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774433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RAM (GB)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Foglio1!$A$2:$A$14</c:f>
              <c:strCach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AVERAGE</c:v>
                </c:pt>
              </c:strCache>
            </c:strRef>
          </c:xVal>
          <c:yVal>
            <c:numRef>
              <c:f>Foglio1!$B$2:$B$14</c:f>
              <c:numCache>
                <c:formatCode>General</c:formatCode>
                <c:ptCount val="13"/>
                <c:pt idx="0">
                  <c:v>1.46</c:v>
                </c:pt>
                <c:pt idx="1">
                  <c:v>1.46</c:v>
                </c:pt>
                <c:pt idx="2">
                  <c:v>1.47</c:v>
                </c:pt>
                <c:pt idx="3">
                  <c:v>1.46</c:v>
                </c:pt>
                <c:pt idx="4">
                  <c:v>1.46</c:v>
                </c:pt>
                <c:pt idx="5">
                  <c:v>1.47</c:v>
                </c:pt>
                <c:pt idx="6">
                  <c:v>1.47</c:v>
                </c:pt>
                <c:pt idx="7">
                  <c:v>1.48</c:v>
                </c:pt>
                <c:pt idx="8">
                  <c:v>1.46</c:v>
                </c:pt>
                <c:pt idx="9">
                  <c:v>1.45</c:v>
                </c:pt>
                <c:pt idx="10">
                  <c:v>1.43</c:v>
                </c:pt>
                <c:pt idx="11">
                  <c:v>1.48</c:v>
                </c:pt>
                <c:pt idx="12">
                  <c:v>1.46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A35-4A2E-A1D5-C477A34D1B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77443312"/>
        <c:axId val="977449072"/>
      </c:scatterChart>
      <c:valAx>
        <c:axId val="977443312"/>
        <c:scaling>
          <c:orientation val="minMax"/>
          <c:max val="12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77449072"/>
        <c:crosses val="autoZero"/>
        <c:crossBetween val="midCat"/>
      </c:valAx>
      <c:valAx>
        <c:axId val="977449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774433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Comprehension</a:t>
            </a:r>
            <a:r>
              <a:rPr lang="en-US" sz="1800" baseline="0" dirty="0"/>
              <a:t> errors</a:t>
            </a:r>
            <a:endParaRPr lang="en-US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SLM MANAGER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Operator 1</c:v>
                </c:pt>
                <c:pt idx="1">
                  <c:v>Operator 2</c:v>
                </c:pt>
                <c:pt idx="2">
                  <c:v>Operator 3</c:v>
                </c:pt>
                <c:pt idx="3">
                  <c:v>Operator 4</c:v>
                </c:pt>
                <c:pt idx="4">
                  <c:v>Operator 5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76-4C0E-AC87-E595AFAA394C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RULE-BASED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Operator 1</c:v>
                </c:pt>
                <c:pt idx="1">
                  <c:v>Operator 2</c:v>
                </c:pt>
                <c:pt idx="2">
                  <c:v>Operator 3</c:v>
                </c:pt>
                <c:pt idx="3">
                  <c:v>Operator 4</c:v>
                </c:pt>
                <c:pt idx="4">
                  <c:v>Operator 5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76-4C0E-AC87-E595AFAA394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42037231"/>
        <c:axId val="1842042031"/>
      </c:barChart>
      <c:catAx>
        <c:axId val="184203723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42042031"/>
        <c:crosses val="autoZero"/>
        <c:auto val="1"/>
        <c:lblAlgn val="ctr"/>
        <c:lblOffset val="100"/>
        <c:noMultiLvlLbl val="0"/>
      </c:catAx>
      <c:valAx>
        <c:axId val="184204203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420372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Missions performed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252993235180884"/>
          <c:y val="0.24063987073678472"/>
          <c:w val="0.86406443914651843"/>
          <c:h val="0.532714367872210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SLM MANAGER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Operator 1</c:v>
                </c:pt>
                <c:pt idx="1">
                  <c:v>Operator 2</c:v>
                </c:pt>
                <c:pt idx="2">
                  <c:v>Operator 3</c:v>
                </c:pt>
                <c:pt idx="3">
                  <c:v>Operator 4</c:v>
                </c:pt>
                <c:pt idx="4">
                  <c:v>Operator 5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6</c:v>
                </c:pt>
                <c:pt idx="3">
                  <c:v>7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76-4C0E-AC87-E595AFAA394C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RULE-BASED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Operator 1</c:v>
                </c:pt>
                <c:pt idx="1">
                  <c:v>Operator 2</c:v>
                </c:pt>
                <c:pt idx="2">
                  <c:v>Operator 3</c:v>
                </c:pt>
                <c:pt idx="3">
                  <c:v>Operator 4</c:v>
                </c:pt>
                <c:pt idx="4">
                  <c:v>Operator 5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9</c:v>
                </c:pt>
                <c:pt idx="3">
                  <c:v>10</c:v>
                </c:pt>
                <c:pt idx="4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76-4C0E-AC87-E595AFAA394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42037231"/>
        <c:axId val="1842042031"/>
      </c:barChart>
      <c:catAx>
        <c:axId val="184203723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42042031"/>
        <c:crosses val="autoZero"/>
        <c:auto val="1"/>
        <c:lblAlgn val="ctr"/>
        <c:lblOffset val="100"/>
        <c:noMultiLvlLbl val="0"/>
      </c:catAx>
      <c:valAx>
        <c:axId val="184204203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42037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A0A16-5DF6-479E-A828-6D14DB6DEC37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7936F-FC15-4254-B301-8302E3B49C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6980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7788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88409-00B7-5837-E6DD-BF5C920CC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2BA1F-BF05-790F-0345-434235B3C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97170-D53A-3CBA-1B87-E126D9A2F3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54865-B1EA-FA7A-8FB4-A905A421C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9905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9B9F3-919C-5520-1775-26E1D9B19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5E053-451E-1DFD-89E0-AD644E6AA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B3974-0FE7-6A57-F4D4-9BA5A8D69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04849-747D-3FD4-F1C6-AFAF1D2BA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1527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7DD55-D098-624F-863F-BD9414208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3E1E1-D5E4-105F-9689-6E190A087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E68C1-AFD8-6595-D898-4BC1E6493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2BF0D-CAED-71AB-D677-EE0F1F364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0270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03440-E4BA-602E-223C-F20BB5688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46F72-BB1A-DEE2-49C7-13E04A329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8DE46-2B58-DD1B-497F-A62FD9BE8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24A18-ED83-D891-6BCA-D38B315F9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9406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0B149-55BB-2463-D427-A478F3C21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86933-4A32-8877-C49D-B2BB3DA43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3D2FEA-58F1-F150-8234-3F6FD045A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FAFD0-A00E-6E3B-FB8D-C48F08725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6060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5EE4C-1075-936F-4046-51C4800A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50783-FBE7-16D9-1297-31C60107A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121AD-65BE-12EC-655A-3FAF384AB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CF546-1AB7-DBF6-2A58-D7F90DF6F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8612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8B424-96BC-0E25-58EE-D6795B1B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08A44-00C8-C8A1-BD08-443B2A6AE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7699E-2E1B-6995-E6D7-0924A1ED8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50483-7E76-8E92-197A-8E059AC0B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8428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A079D-5D50-6695-1178-4DE442C1E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C99C8-6E5F-81E3-232E-0011D9823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17098-D5AF-84DB-14D9-E7F8D7C8E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9CC57-0CD9-F3C0-2BD3-97A319D3B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51610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AC3CF-7D72-9441-2E68-5F51889C7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6CFDE-A9DE-ECBE-34AE-0DC888760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9F7B5-34D4-7BCA-A2E9-59F216008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C35B9-A477-BEA1-5F12-994DE89E8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5877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B0D2F-6A30-A179-268A-2F8B8AF3C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241FB-2921-941B-2C3D-C9F17710F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2C6AC-739C-6640-F2CD-50B89FBBB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72B99-B977-C595-25B0-82EC390B3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37775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76ADE-75B1-6214-7080-CAB012FE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CE989-D8EC-0CE8-6419-AA2D8BBD60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5C8FB-7ABC-542F-B043-2B15AA9BB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2926C-DBAD-2863-C048-296CDE12F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4736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A8928-5369-2322-0F3D-8FAAFF00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5F665-FCB2-08D0-50AD-EEA5364ED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45752-8AB3-5406-198B-B576C8168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2FAA3-3BE8-168C-9470-29137563F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59121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74A2B-433B-638D-A117-E8CA7717D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D01AE-D4FB-5B72-746B-76A6C3611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52CC9-0DE9-C43C-F01E-6FA5F731E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EA80C-0338-B8D5-35D3-59194A7DC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64132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5D8AB-EA6F-1785-EFDC-522C2A9F9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7B692-569B-C3F7-780A-101F9A09A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BBA83-9F41-A97B-0DCB-4838A75AA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8A2AA-F5E6-E829-B244-4D962860A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3203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BE71A-F44A-F320-1369-5F246A52A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697FC8-1C59-2A7E-4971-9BD904626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F6E57-059F-B8EC-FF36-77A8FB60B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E5BFF-F859-CBE3-CA32-374588F6A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54055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6F6E-6499-E6A0-DDA2-95FC3E0B5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57508-0234-A570-EF1C-E5A16B46C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B8473-87B5-D0B7-15FD-3FB421B9E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5A4FB-1EE7-04D4-00B7-96BAA9CF3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601109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336F9-2E71-CEA5-8DD8-A48B5FDED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574EA-426D-5313-496B-1A404ABC7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2ADF1-0299-B81F-56D4-F98BE2130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5D35E-6745-3BE9-8B00-41A600949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69051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8F051-E82C-5555-F6C5-59ECD6A1F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69CC8-6554-194F-08EB-2C5712A92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30D0B5-7A42-74DE-F517-A6139E0BB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000AF-A51A-D619-C39C-EAE0BFD44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75402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E07F-976E-2AEA-7252-387D77077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8F350-0C2A-8DE5-2A9B-387288DDB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216AB-9B1B-9F83-E753-1B756BE39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E37C4-31ED-B10B-8C11-6461D0529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32107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264FB-B89B-B39F-887B-DA0232F76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3574F-2CCE-5A4B-0359-E9C8C08D6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2D644-A6CA-71AC-C11D-E28016744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3C16E-679D-8EEE-4E8D-DD3C9F8FB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5181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EF8A7-74BA-68C6-2E78-AFA72E476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02737-82E6-B536-31D1-4C76301C8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BF150-C2B2-154C-85CE-D8AC6B087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9602E-9012-3EC9-DA3D-E9C05E4EC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63586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A6F97-7386-CA1C-F78B-184676E55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45009-43E8-9DF5-E9CD-3BCEC8C85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27E42-B675-591E-1661-DBD1A5B82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E7927-887A-11B1-5A83-9E9CAD795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62775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BAD44-CCF2-F60A-EF2B-BA278A016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5FC96-6E73-99C7-2558-3ACA2BEEC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45B75-2C25-DFD6-FF7B-4356E5318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09C60-0463-53A5-A8AB-5FB46A32C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77326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3932B-1C6E-1F58-A1AB-E01D72962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2B33D-EDDF-CB8E-C677-0DDAFC937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B75F5-4C49-8EB1-C026-A8C9A76BF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3C215-63ED-5F1C-1185-DBEF0F75E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5305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1ABE8-659E-09E5-E8EB-ADB62B382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8E7F2-C192-3A48-7189-476983A49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B7818-C918-6587-E97D-F56B654E7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507D5-5922-2C9B-9B71-896B3D099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22187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26A84-63A6-0D85-2F24-E1D5FE6D3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8FFE6-2698-86A3-DCB0-5DA87C16F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0D402-4BED-6E39-809D-FEE004B5F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E2F48-2FC4-4BA6-DAF9-9D12ABC8D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53355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4284D-7F88-DE49-04CE-DCC4D9085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60A86-A8B0-840F-7A85-7FAE5B65C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6BEE2-AB99-2867-02C6-F83632367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5F341-6D59-5097-6602-A5FF0B4C7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7936F-FC15-4254-B301-8302E3B49CA7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4795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EFE7-A176-555B-006E-9FE7EF171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38C51-5C5C-3AF3-1C6F-740FCDAC4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F2AA7-D24F-4236-7E62-EFB4A6A0A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1DC5-C73E-42D4-8317-FCB683DE539A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8FF6E-3DEE-C272-0A6B-0682B166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DF771-2E8E-CDC1-D3BB-C9E6B72A2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8BB4C-3DB5-4E94-8A3E-E643609A6A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513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FB093-7702-EB7E-A879-749BCF8E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6F596-53A7-10B5-81C3-2EDFFF639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980F0-9DA0-47EE-F539-A17A8DE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1DC5-C73E-42D4-8317-FCB683DE539A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14853-7168-0195-7D37-3A173EBAC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8D68A-5A6B-FD3D-8DA7-A4B69313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8BB4C-3DB5-4E94-8A3E-E643609A6A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6803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42616-C8C1-6EF5-82E4-E62F84EF1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63B14-50AF-DB47-8AA7-CCC170F07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D4CE2-F20E-08D3-F9C4-D1BB4544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1DC5-C73E-42D4-8317-FCB683DE539A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E889E-445E-1927-D533-CFB8F8D92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50CC8-0BE3-B0FD-1DF4-6C3166DF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8BB4C-3DB5-4E94-8A3E-E643609A6A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047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99E9-86CB-D382-BC98-D68965EF0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DB597-1AFB-4512-81F2-D7BF96231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16895-ACA6-B1D8-D17C-EBB9830D7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3D30B-F365-9DA8-D3D4-E13A858C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1DC5-C73E-42D4-8317-FCB683DE539A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4D8C7-20BB-AD03-7195-B02BFD28F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B7218-4D6E-485B-2A4A-7EEE1D82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8BB4C-3DB5-4E94-8A3E-E643609A6A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3268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C065C-0F7D-61F4-798E-1335B85F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A9CE4-330D-98BC-9F9A-DE4BB20E9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67833B-F63A-85A2-CB51-B51854A77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0D8BAB-5FBA-5A6D-A23A-59EF9E909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9DA2FF-2C56-FCBB-0D7D-19953F1E4D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845E1C-4D0A-6096-3AB2-CA75CF5A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1DC5-C73E-42D4-8317-FCB683DE539A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81262-B8BB-8458-EF94-1BDB1B936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A4E9CD-691C-D985-1F95-8E44B5B0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8BB4C-3DB5-4E94-8A3E-E643609A6A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942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876A-15A2-9686-8505-6EE637DC4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BA92CD-AF9A-2D28-008E-F20E17200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1DC5-C73E-42D4-8317-FCB683DE539A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C48C1-8BF4-801C-3CC0-CE1207D2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97B2F3-8695-8598-7D54-F5BF603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8BB4C-3DB5-4E94-8A3E-E643609A6A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3932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215915-E932-2A73-4BA2-495D79423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1DC5-C73E-42D4-8317-FCB683DE539A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408FE7-6D7F-F6DD-EB62-16297FA6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7D972-D6DC-0D2C-61C0-A6D3DEF7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8BB4C-3DB5-4E94-8A3E-E643609A6A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9475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F83E-DF72-D122-BF1F-3D050CA31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277CA-B3A0-89EB-F539-DEACD08B5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E1023A-CE9C-DE33-4017-4D9FFD59A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266FB-8FE2-DA2F-01ED-9E9CDFA17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1DC5-C73E-42D4-8317-FCB683DE539A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C6486-8365-F95F-43AA-AD9AA1CC6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9520A-9DAD-CD3B-04C3-FCD82E83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8BB4C-3DB5-4E94-8A3E-E643609A6A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39118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8575A-AD9F-DE03-0F4D-6201E4EF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3BFC01-1037-ACA0-9C2B-C41D7AF94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FC3F6-E141-DF5E-E969-9EDCA2513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EDE93-308A-6C14-5BF6-7BADB0AC1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1DC5-C73E-42D4-8317-FCB683DE539A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099F8-429D-1316-7732-EF8988328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FAB42-E4BC-79B7-1332-0718BF421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8BB4C-3DB5-4E94-8A3E-E643609A6A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6936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BCEB-4053-6464-1F4F-88DB977F5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012F5-1298-2E43-E5B9-9207F4ED9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56145-76C5-82CD-E738-CE213BF0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1DC5-C73E-42D4-8317-FCB683DE539A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4331C-28C0-23EB-6363-0676405BC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F5DBB-BC90-FAD6-17B1-134AE8A4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8BB4C-3DB5-4E94-8A3E-E643609A6A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1690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A49C18-1691-7783-EC57-06F5203F2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21D0-7C83-2EC9-8A68-EF8BF84B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F39D4-57E6-9E74-08B6-57DB3068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81DC5-C73E-42D4-8317-FCB683DE539A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52257-B7C6-224F-61B9-2E40064D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B01A7-7B1C-FC5C-FFB8-A1990C0C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8BB4C-3DB5-4E94-8A3E-E643609A6A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298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41994E-4BD6-F59D-5AEA-ACDA4E9E5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B66BA-B5B4-21A2-DF0D-EA3EA46B2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724FB-8EA7-B12C-68B5-2D654F20D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81DC5-C73E-42D4-8317-FCB683DE539A}" type="datetimeFigureOut">
              <a:rPr lang="it-IT" smtClean="0"/>
              <a:t>28/11/2025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08D0A-EFE6-5A48-9631-43E2FCCF9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27007-99DA-537E-101D-779489862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8BB4C-3DB5-4E94-8A3E-E643609A6A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1594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3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5" Type="http://schemas.openxmlformats.org/officeDocument/2006/relationships/image" Target="../media/image18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2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39.svg"/><Relationship Id="rId18" Type="http://schemas.openxmlformats.org/officeDocument/2006/relationships/image" Target="../media/image42.png"/><Relationship Id="rId3" Type="http://schemas.openxmlformats.org/officeDocument/2006/relationships/image" Target="../media/image1.png"/><Relationship Id="rId21" Type="http://schemas.openxmlformats.org/officeDocument/2006/relationships/image" Target="../media/image45.png"/><Relationship Id="rId7" Type="http://schemas.openxmlformats.org/officeDocument/2006/relationships/image" Target="../media/image18.png"/><Relationship Id="rId12" Type="http://schemas.openxmlformats.org/officeDocument/2006/relationships/image" Target="../media/image38.png"/><Relationship Id="rId17" Type="http://schemas.openxmlformats.org/officeDocument/2006/relationships/image" Target="../media/image23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2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11" Type="http://schemas.openxmlformats.org/officeDocument/2006/relationships/image" Target="../media/image37.svg"/><Relationship Id="rId24" Type="http://schemas.openxmlformats.org/officeDocument/2006/relationships/image" Target="../media/image48.png"/><Relationship Id="rId5" Type="http://schemas.openxmlformats.org/officeDocument/2006/relationships/image" Target="../media/image34.png"/><Relationship Id="rId15" Type="http://schemas.openxmlformats.org/officeDocument/2006/relationships/image" Target="../media/image41.svg"/><Relationship Id="rId23" Type="http://schemas.openxmlformats.org/officeDocument/2006/relationships/image" Target="../media/image47.png"/><Relationship Id="rId10" Type="http://schemas.openxmlformats.org/officeDocument/2006/relationships/image" Target="../media/image36.png"/><Relationship Id="rId19" Type="http://schemas.openxmlformats.org/officeDocument/2006/relationships/image" Target="../media/image43.svg"/><Relationship Id="rId4" Type="http://schemas.openxmlformats.org/officeDocument/2006/relationships/image" Target="../media/image14.png"/><Relationship Id="rId9" Type="http://schemas.openxmlformats.org/officeDocument/2006/relationships/image" Target="../media/image17.svg"/><Relationship Id="rId14" Type="http://schemas.openxmlformats.org/officeDocument/2006/relationships/image" Target="../media/image40.png"/><Relationship Id="rId22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39.svg"/><Relationship Id="rId18" Type="http://schemas.openxmlformats.org/officeDocument/2006/relationships/image" Target="../media/image49.png"/><Relationship Id="rId3" Type="http://schemas.openxmlformats.org/officeDocument/2006/relationships/image" Target="../media/image1.png"/><Relationship Id="rId21" Type="http://schemas.openxmlformats.org/officeDocument/2006/relationships/image" Target="../media/image52.png"/><Relationship Id="rId7" Type="http://schemas.openxmlformats.org/officeDocument/2006/relationships/image" Target="../media/image18.png"/><Relationship Id="rId12" Type="http://schemas.openxmlformats.org/officeDocument/2006/relationships/image" Target="../media/image38.png"/><Relationship Id="rId17" Type="http://schemas.openxmlformats.org/officeDocument/2006/relationships/image" Target="../media/image43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2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11" Type="http://schemas.openxmlformats.org/officeDocument/2006/relationships/image" Target="../media/image37.svg"/><Relationship Id="rId24" Type="http://schemas.openxmlformats.org/officeDocument/2006/relationships/image" Target="../media/image55.png"/><Relationship Id="rId5" Type="http://schemas.openxmlformats.org/officeDocument/2006/relationships/image" Target="../media/image34.png"/><Relationship Id="rId15" Type="http://schemas.openxmlformats.org/officeDocument/2006/relationships/image" Target="../media/image41.svg"/><Relationship Id="rId23" Type="http://schemas.openxmlformats.org/officeDocument/2006/relationships/image" Target="../media/image54.png"/><Relationship Id="rId10" Type="http://schemas.openxmlformats.org/officeDocument/2006/relationships/image" Target="../media/image36.png"/><Relationship Id="rId19" Type="http://schemas.openxmlformats.org/officeDocument/2006/relationships/image" Target="../media/image50.svg"/><Relationship Id="rId4" Type="http://schemas.openxmlformats.org/officeDocument/2006/relationships/image" Target="../media/image14.png"/><Relationship Id="rId9" Type="http://schemas.openxmlformats.org/officeDocument/2006/relationships/image" Target="../media/image17.svg"/><Relationship Id="rId14" Type="http://schemas.openxmlformats.org/officeDocument/2006/relationships/image" Target="../media/image40.png"/><Relationship Id="rId22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1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chart" Target="../charts/chart2.xml"/><Relationship Id="rId5" Type="http://schemas.openxmlformats.org/officeDocument/2006/relationships/image" Target="../media/image74.png"/><Relationship Id="rId10" Type="http://schemas.openxmlformats.org/officeDocument/2006/relationships/chart" Target="../charts/chart1.xml"/><Relationship Id="rId4" Type="http://schemas.openxmlformats.org/officeDocument/2006/relationships/image" Target="../media/image56.png"/><Relationship Id="rId9" Type="http://schemas.openxmlformats.org/officeDocument/2006/relationships/image" Target="../media/image7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.png"/><Relationship Id="rId7" Type="http://schemas.openxmlformats.org/officeDocument/2006/relationships/image" Target="../media/image6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4.svg"/><Relationship Id="rId5" Type="http://schemas.openxmlformats.org/officeDocument/2006/relationships/image" Target="../media/image60.svg"/><Relationship Id="rId10" Type="http://schemas.openxmlformats.org/officeDocument/2006/relationships/image" Target="../media/image63.png"/><Relationship Id="rId4" Type="http://schemas.openxmlformats.org/officeDocument/2006/relationships/image" Target="../media/image59.png"/><Relationship Id="rId9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7BE81-E53E-233D-7328-525CC5C32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AD291-10C5-7FDB-AA12-CCEA17D65B89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71B5878-11C1-608B-A609-C636A062A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61AD8E-ABD3-AB7D-22D0-9A547C97BBC7}"/>
              </a:ext>
            </a:extLst>
          </p:cNvPr>
          <p:cNvSpPr txBox="1"/>
          <p:nvPr/>
        </p:nvSpPr>
        <p:spPr>
          <a:xfrm>
            <a:off x="829339" y="2771632"/>
            <a:ext cx="112244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noProof="0" dirty="0"/>
              <a:t>Managing AUV missions through small language models and behavior trees</a:t>
            </a:r>
          </a:p>
        </p:txBody>
      </p:sp>
      <p:pic>
        <p:nvPicPr>
          <p:cNvPr id="13" name="Picture 12" descr="A blue logo with a child's face&#10;&#10;AI-generated content may be incorrect.">
            <a:extLst>
              <a:ext uri="{FF2B5EF4-FFF2-40B4-BE49-F238E27FC236}">
                <a16:creationId xmlns:a16="http://schemas.microsoft.com/office/drawing/2014/main" id="{B20C7AB4-E122-FB01-CB19-A8D19AC8DE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207" y="996357"/>
            <a:ext cx="1519586" cy="15488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D5DFED9-46FA-3681-E596-3B8C8A9F12EE}"/>
              </a:ext>
            </a:extLst>
          </p:cNvPr>
          <p:cNvSpPr txBox="1"/>
          <p:nvPr/>
        </p:nvSpPr>
        <p:spPr>
          <a:xfrm>
            <a:off x="2073349" y="4077650"/>
            <a:ext cx="3753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/>
              <a:t>Prof. Andrea </a:t>
            </a:r>
            <a:r>
              <a:rPr lang="en-US" sz="2400" noProof="0" dirty="0" err="1"/>
              <a:t>Munafò</a:t>
            </a:r>
            <a:endParaRPr lang="en-US" sz="2400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5D962D-9298-B77C-F454-710077288132}"/>
              </a:ext>
            </a:extLst>
          </p:cNvPr>
          <p:cNvSpPr txBox="1"/>
          <p:nvPr/>
        </p:nvSpPr>
        <p:spPr>
          <a:xfrm>
            <a:off x="829339" y="4076458"/>
            <a:ext cx="3753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Advisor</a:t>
            </a:r>
            <a:r>
              <a:rPr lang="en-US" sz="2400" noProof="0" dirty="0"/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C9E68A-D3CE-FF88-B78D-072E21760A6D}"/>
              </a:ext>
            </a:extLst>
          </p:cNvPr>
          <p:cNvSpPr txBox="1"/>
          <p:nvPr/>
        </p:nvSpPr>
        <p:spPr>
          <a:xfrm>
            <a:off x="7609370" y="4076458"/>
            <a:ext cx="4276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Candidate</a:t>
            </a:r>
            <a:r>
              <a:rPr lang="en-US" sz="2400" noProof="0" dirty="0"/>
              <a:t>: Emilio Gigante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F94F40-F34A-6FFB-622D-D9CAD57B8869}"/>
              </a:ext>
            </a:extLst>
          </p:cNvPr>
          <p:cNvSpPr txBox="1"/>
          <p:nvPr/>
        </p:nvSpPr>
        <p:spPr>
          <a:xfrm>
            <a:off x="4936130" y="5136036"/>
            <a:ext cx="2319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/>
              <a:t>A.Y.</a:t>
            </a:r>
            <a:r>
              <a:rPr lang="en-US" sz="2400" noProof="0" dirty="0"/>
              <a:t>: 2024/2025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1FF51A-909B-02E8-ADC4-EAA175BA4B1E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C050D2-0795-FABC-7C88-D799B3D869AC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</p:spTree>
    <p:extLst>
      <p:ext uri="{BB962C8B-B14F-4D97-AF65-F5344CB8AC3E}">
        <p14:creationId xmlns:p14="http://schemas.microsoft.com/office/powerpoint/2010/main" val="3027975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B74C9-CFC4-2ACF-8907-6C8CFA752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F512E1-9F9D-53C7-9ACC-26A07F594D7F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8B998B-7764-6DA3-3261-4F66D658AF6A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FC2BD12-EFFC-CA7A-F6E2-486208808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BA233-53A3-49A7-1753-998F2E43BF52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105F549-2A21-CB8A-0DB2-29BD93674FC9}"/>
              </a:ext>
            </a:extLst>
          </p:cNvPr>
          <p:cNvSpPr txBox="1"/>
          <p:nvPr/>
        </p:nvSpPr>
        <p:spPr>
          <a:xfrm>
            <a:off x="473342" y="997011"/>
            <a:ext cx="11580435" cy="6001643"/>
          </a:xfrm>
          <a:prstGeom prst="rect">
            <a:avLst/>
          </a:prstGeom>
          <a:noFill/>
        </p:spPr>
        <p:txBody>
          <a:bodyPr wrap="square" numCol="2" rtlCol="0" anchor="ctr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noProof="0" dirty="0"/>
              <a:t>Introduction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/>
              <a:t>Problem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/>
              <a:t>Recent research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Approach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Context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Confidence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Failure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Model 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Application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Behavior Tree manager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SLM manager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Results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Training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Confidence and Correctness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Experiments in simulation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032232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0A852-FCE2-E263-1119-1BAAE688C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DD05ED-5471-701B-E042-7711E64D3A8A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0F7FF3-2663-D905-78F0-B10FE4F1ECD7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7C59521-F47E-1199-530D-A4C087CEB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30B4D2-379B-F0FF-12DB-1B7A7AA10D09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</a:t>
            </a:r>
            <a:r>
              <a:rPr lang="en-US" sz="2400" noProof="0" dirty="0">
                <a:solidFill>
                  <a:schemeClr val="bg1"/>
                </a:solidFill>
              </a:rPr>
              <a:t>/22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48CAC5-20A4-0DFF-769A-967F9134BDF8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98667D-0D67-2E6B-8ABB-E31405439DA5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1. </a:t>
            </a:r>
            <a:r>
              <a:rPr lang="en-US" sz="2400" b="1" noProof="0" dirty="0">
                <a:solidFill>
                  <a:schemeClr val="bg1"/>
                </a:solidFill>
              </a:rPr>
              <a:t>Introduction - Problem</a:t>
            </a:r>
          </a:p>
        </p:txBody>
      </p:sp>
      <p:sp>
        <p:nvSpPr>
          <p:cNvPr id="8" name="AutoShape 2" descr="Language SVG Vector Icon">
            <a:extLst>
              <a:ext uri="{FF2B5EF4-FFF2-40B4-BE49-F238E27FC236}">
                <a16:creationId xmlns:a16="http://schemas.microsoft.com/office/drawing/2014/main" id="{D3F57FFF-2C44-E5C9-2BB1-3CFEF6BEE5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9549" y="274737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C94210C-959A-4DE2-7FAE-8A3A18A31A05}"/>
              </a:ext>
            </a:extLst>
          </p:cNvPr>
          <p:cNvSpPr txBox="1"/>
          <p:nvPr/>
        </p:nvSpPr>
        <p:spPr>
          <a:xfrm>
            <a:off x="-2" y="1328513"/>
            <a:ext cx="58495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PROBLEM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D293B42-2125-25C8-12C9-D27D30C331DC}"/>
              </a:ext>
            </a:extLst>
          </p:cNvPr>
          <p:cNvSpPr txBox="1"/>
          <p:nvPr/>
        </p:nvSpPr>
        <p:spPr>
          <a:xfrm>
            <a:off x="6001949" y="1332288"/>
            <a:ext cx="6342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3"/>
                </a:solidFill>
              </a:rPr>
              <a:t>SOLUTION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7152A36-7580-7496-4BFB-DF6301247CA4}"/>
              </a:ext>
            </a:extLst>
          </p:cNvPr>
          <p:cNvSpPr txBox="1"/>
          <p:nvPr/>
        </p:nvSpPr>
        <p:spPr>
          <a:xfrm>
            <a:off x="457200" y="2273299"/>
            <a:ext cx="539234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Simplify mission management and enhance autonomy for AUVs 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Impossible LLM deployment on-board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Lower reliability of SLMs</a:t>
            </a:r>
          </a:p>
          <a:p>
            <a:pPr algn="ctr"/>
            <a:r>
              <a:rPr lang="en-US" sz="2000" dirty="0"/>
              <a:t> with respect to </a:t>
            </a:r>
            <a:r>
              <a:rPr lang="en-US" sz="2400" dirty="0"/>
              <a:t>LLMs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FB6C8C0-830E-04E0-655F-41D7AAE38128}"/>
              </a:ext>
            </a:extLst>
          </p:cNvPr>
          <p:cNvSpPr txBox="1"/>
          <p:nvPr/>
        </p:nvSpPr>
        <p:spPr>
          <a:xfrm>
            <a:off x="5849548" y="2273299"/>
            <a:ext cx="63424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Build language model manager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Use Small Language Model (SLM)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Introduce context awareness, failure handling </a:t>
            </a:r>
          </a:p>
          <a:p>
            <a:pPr algn="ctr"/>
            <a:r>
              <a:rPr lang="en-US" sz="2000" dirty="0"/>
              <a:t>and response confidence evaluation</a:t>
            </a: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AE96A74A-2A68-3921-5378-A95824D8E883}"/>
              </a:ext>
            </a:extLst>
          </p:cNvPr>
          <p:cNvCxnSpPr>
            <a:cxnSpLocks/>
          </p:cNvCxnSpPr>
          <p:nvPr/>
        </p:nvCxnSpPr>
        <p:spPr>
          <a:xfrm>
            <a:off x="5693229" y="2481943"/>
            <a:ext cx="1393371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557314E1-36B9-D0B5-614F-A5E7F908395B}"/>
              </a:ext>
            </a:extLst>
          </p:cNvPr>
          <p:cNvCxnSpPr>
            <a:cxnSpLocks/>
          </p:cNvCxnSpPr>
          <p:nvPr/>
        </p:nvCxnSpPr>
        <p:spPr>
          <a:xfrm>
            <a:off x="5631836" y="3699604"/>
            <a:ext cx="1302364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042830F0-64AD-F29D-D5EF-8092CEEC21C8}"/>
              </a:ext>
            </a:extLst>
          </p:cNvPr>
          <p:cNvCxnSpPr>
            <a:cxnSpLocks/>
          </p:cNvCxnSpPr>
          <p:nvPr/>
        </p:nvCxnSpPr>
        <p:spPr>
          <a:xfrm>
            <a:off x="4789715" y="4646661"/>
            <a:ext cx="1524000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0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009E8-6C17-5544-3640-9376ADC0C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BF5D79D-C2CB-DECB-13E9-3426778E3059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868057-D714-CE33-5A19-1A7CADA19F16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897A9FB-EAC7-36CF-E33C-A8DFC3BC4A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C7B6F5-BAEE-B3C8-EE61-06D3326D4A3E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2</a:t>
            </a:r>
            <a:r>
              <a:rPr lang="en-US" sz="2400" noProof="0" dirty="0">
                <a:solidFill>
                  <a:schemeClr val="bg1"/>
                </a:solidFill>
              </a:rPr>
              <a:t>/22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8CDB19-F972-2FB3-BC7E-4469659829EC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A2E063-321D-BCEE-D588-8A1121DC88EF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1. </a:t>
            </a:r>
            <a:r>
              <a:rPr lang="en-US" sz="2400" b="1" noProof="0" dirty="0">
                <a:solidFill>
                  <a:schemeClr val="bg1"/>
                </a:solidFill>
              </a:rPr>
              <a:t>Introduction – Recent Research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D33470-EB8D-9746-DB26-ACC3556965E9}"/>
              </a:ext>
            </a:extLst>
          </p:cNvPr>
          <p:cNvSpPr txBox="1"/>
          <p:nvPr/>
        </p:nvSpPr>
        <p:spPr>
          <a:xfrm>
            <a:off x="6847367" y="1646275"/>
            <a:ext cx="492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bg1"/>
                </a:solidFill>
              </a:rPr>
              <a:t>AUV</a:t>
            </a:r>
            <a:r>
              <a:rPr lang="en-US" sz="2000" noProof="0" dirty="0">
                <a:solidFill>
                  <a:schemeClr val="bg1"/>
                </a:solidFill>
              </a:rPr>
              <a:t>: </a:t>
            </a:r>
            <a:r>
              <a:rPr lang="en-US" sz="2000" b="1" noProof="0" dirty="0">
                <a:solidFill>
                  <a:schemeClr val="bg1"/>
                </a:solidFill>
              </a:rPr>
              <a:t>A</a:t>
            </a:r>
            <a:r>
              <a:rPr lang="en-US" sz="2000" noProof="0" dirty="0">
                <a:solidFill>
                  <a:schemeClr val="bg1"/>
                </a:solidFill>
              </a:rPr>
              <a:t>utonomous </a:t>
            </a:r>
            <a:r>
              <a:rPr lang="en-US" sz="2000" b="1" noProof="0" dirty="0">
                <a:solidFill>
                  <a:schemeClr val="bg1"/>
                </a:solidFill>
              </a:rPr>
              <a:t>U</a:t>
            </a:r>
            <a:r>
              <a:rPr lang="en-US" sz="2000" noProof="0" dirty="0">
                <a:solidFill>
                  <a:schemeClr val="bg1"/>
                </a:solidFill>
              </a:rPr>
              <a:t>nderwater </a:t>
            </a:r>
            <a:r>
              <a:rPr lang="en-US" sz="2000" b="1" noProof="0" dirty="0">
                <a:solidFill>
                  <a:schemeClr val="bg1"/>
                </a:solidFill>
              </a:rPr>
              <a:t>V</a:t>
            </a:r>
            <a:r>
              <a:rPr lang="en-US" sz="2000" noProof="0" dirty="0">
                <a:solidFill>
                  <a:schemeClr val="bg1"/>
                </a:solidFill>
              </a:rPr>
              <a:t>ehicle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716380-E9E7-D013-1B03-647B08A0CEF8}"/>
              </a:ext>
            </a:extLst>
          </p:cNvPr>
          <p:cNvCxnSpPr>
            <a:cxnSpLocks/>
          </p:cNvCxnSpPr>
          <p:nvPr/>
        </p:nvCxnSpPr>
        <p:spPr>
          <a:xfrm flipH="1">
            <a:off x="7049386" y="2046385"/>
            <a:ext cx="510363" cy="6542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4446686-82F9-5FCF-B444-E94822A18DB3}"/>
              </a:ext>
            </a:extLst>
          </p:cNvPr>
          <p:cNvSpPr txBox="1"/>
          <p:nvPr/>
        </p:nvSpPr>
        <p:spPr>
          <a:xfrm>
            <a:off x="8780722" y="4611561"/>
            <a:ext cx="258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Posidonia Oceanica</a:t>
            </a:r>
          </a:p>
        </p:txBody>
      </p:sp>
      <p:sp>
        <p:nvSpPr>
          <p:cNvPr id="8" name="AutoShape 2" descr="Language SVG Vector Icon">
            <a:extLst>
              <a:ext uri="{FF2B5EF4-FFF2-40B4-BE49-F238E27FC236}">
                <a16:creationId xmlns:a16="http://schemas.microsoft.com/office/drawing/2014/main" id="{F1985F60-3C5E-04A4-161F-6768F795D3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9549" y="274737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9E2A62B1-54F2-9101-90FF-CEC4BBE7B999}"/>
              </a:ext>
            </a:extLst>
          </p:cNvPr>
          <p:cNvCxnSpPr>
            <a:cxnSpLocks/>
          </p:cNvCxnSpPr>
          <p:nvPr/>
        </p:nvCxnSpPr>
        <p:spPr>
          <a:xfrm>
            <a:off x="6096000" y="1098013"/>
            <a:ext cx="0" cy="49326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E564AEC-5359-697C-B8BC-09D8E607006D}"/>
              </a:ext>
            </a:extLst>
          </p:cNvPr>
          <p:cNvSpPr txBox="1"/>
          <p:nvPr/>
        </p:nvSpPr>
        <p:spPr>
          <a:xfrm>
            <a:off x="1001150" y="1055124"/>
            <a:ext cx="43197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LLM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F714775-6D85-93F1-7B14-FC5B94DC4BC0}"/>
              </a:ext>
            </a:extLst>
          </p:cNvPr>
          <p:cNvSpPr txBox="1"/>
          <p:nvPr/>
        </p:nvSpPr>
        <p:spPr>
          <a:xfrm>
            <a:off x="6760842" y="1079309"/>
            <a:ext cx="43197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SLM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B39D545-22A5-41B4-1D23-13E6F0DEB47B}"/>
              </a:ext>
            </a:extLst>
          </p:cNvPr>
          <p:cNvSpPr txBox="1"/>
          <p:nvPr/>
        </p:nvSpPr>
        <p:spPr>
          <a:xfrm>
            <a:off x="552955" y="2069838"/>
            <a:ext cx="476794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00B050"/>
                </a:solidFill>
              </a:rPr>
              <a:t>Pros</a:t>
            </a:r>
            <a:r>
              <a:rPr lang="en-GB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Better reasoning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Broader comprehension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r>
              <a:rPr lang="en-GB" sz="2000" b="1" dirty="0">
                <a:solidFill>
                  <a:srgbClr val="FF0000"/>
                </a:solidFill>
              </a:rPr>
              <a:t>Cons</a:t>
            </a:r>
            <a:r>
              <a:rPr lang="en-GB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Cloud access constraints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Long response times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AD05C101-A53D-C930-980C-5D556FE43317}"/>
              </a:ext>
            </a:extLst>
          </p:cNvPr>
          <p:cNvSpPr txBox="1"/>
          <p:nvPr/>
        </p:nvSpPr>
        <p:spPr>
          <a:xfrm>
            <a:off x="7095914" y="2071336"/>
            <a:ext cx="476794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00B050"/>
                </a:solidFill>
              </a:rPr>
              <a:t>Pros</a:t>
            </a:r>
            <a:r>
              <a:rPr lang="en-GB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Significantly lighter, hence potentially deployable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Fast response times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r>
              <a:rPr lang="en-GB" sz="2000" b="1" dirty="0">
                <a:solidFill>
                  <a:srgbClr val="FF0000"/>
                </a:solidFill>
              </a:rPr>
              <a:t>Cons</a:t>
            </a:r>
            <a:r>
              <a:rPr lang="en-GB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Limited reasoning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No context awareness</a:t>
            </a:r>
          </a:p>
        </p:txBody>
      </p:sp>
      <p:pic>
        <p:nvPicPr>
          <p:cNvPr id="53" name="Immagine 52">
            <a:extLst>
              <a:ext uri="{FF2B5EF4-FFF2-40B4-BE49-F238E27FC236}">
                <a16:creationId xmlns:a16="http://schemas.microsoft.com/office/drawing/2014/main" id="{FD8655B8-69EA-2453-5606-B74C23BA859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2246" y="4944996"/>
            <a:ext cx="970428" cy="970428"/>
          </a:xfrm>
          <a:prstGeom prst="rect">
            <a:avLst/>
          </a:prstGeom>
        </p:spPr>
      </p:pic>
      <p:pic>
        <p:nvPicPr>
          <p:cNvPr id="54" name="Elemento grafico 53" descr="Segno di spunta con riempimento a tinta unita">
            <a:extLst>
              <a:ext uri="{FF2B5EF4-FFF2-40B4-BE49-F238E27FC236}">
                <a16:creationId xmlns:a16="http://schemas.microsoft.com/office/drawing/2014/main" id="{8380429B-8707-1FB3-520A-124501140D1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0261" y="5190087"/>
            <a:ext cx="400548" cy="400548"/>
          </a:xfrm>
          <a:prstGeom prst="rect">
            <a:avLst/>
          </a:prstGeom>
        </p:spPr>
      </p:pic>
      <p:pic>
        <p:nvPicPr>
          <p:cNvPr id="55" name="Elemento grafico 54" descr="Dimensione (sole medio) con riempimento a tinta unita">
            <a:extLst>
              <a:ext uri="{FF2B5EF4-FFF2-40B4-BE49-F238E27FC236}">
                <a16:creationId xmlns:a16="http://schemas.microsoft.com/office/drawing/2014/main" id="{4AD090EA-6567-7032-8C07-AB0073A0281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4607" y="4814634"/>
            <a:ext cx="464247" cy="464247"/>
          </a:xfrm>
          <a:prstGeom prst="rect">
            <a:avLst/>
          </a:prstGeom>
        </p:spPr>
      </p:pic>
      <p:pic>
        <p:nvPicPr>
          <p:cNvPr id="59" name="Immagine 58">
            <a:extLst>
              <a:ext uri="{FF2B5EF4-FFF2-40B4-BE49-F238E27FC236}">
                <a16:creationId xmlns:a16="http://schemas.microsoft.com/office/drawing/2014/main" id="{C75D6BCE-731C-4F7A-1774-016F5A2042E6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77638" y="4932160"/>
            <a:ext cx="970428" cy="970428"/>
          </a:xfrm>
          <a:prstGeom prst="rect">
            <a:avLst/>
          </a:prstGeom>
        </p:spPr>
      </p:pic>
      <p:pic>
        <p:nvPicPr>
          <p:cNvPr id="60" name="Immagine 59">
            <a:extLst>
              <a:ext uri="{FF2B5EF4-FFF2-40B4-BE49-F238E27FC236}">
                <a16:creationId xmlns:a16="http://schemas.microsoft.com/office/drawing/2014/main" id="{A4C824AA-EC6E-F0FB-B4AD-F44BD05705EB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28995" y="5135549"/>
            <a:ext cx="515639" cy="515639"/>
          </a:xfrm>
          <a:prstGeom prst="rect">
            <a:avLst/>
          </a:prstGeom>
        </p:spPr>
      </p:pic>
      <p:pic>
        <p:nvPicPr>
          <p:cNvPr id="63" name="Immagine 62">
            <a:extLst>
              <a:ext uri="{FF2B5EF4-FFF2-40B4-BE49-F238E27FC236}">
                <a16:creationId xmlns:a16="http://schemas.microsoft.com/office/drawing/2014/main" id="{2AB42F5F-86B0-FDEE-C14B-5A94CA86E6E6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46742" y="4814634"/>
            <a:ext cx="1033846" cy="1033846"/>
          </a:xfrm>
          <a:prstGeom prst="rect">
            <a:avLst/>
          </a:prstGeom>
        </p:spPr>
      </p:pic>
      <p:pic>
        <p:nvPicPr>
          <p:cNvPr id="65" name="Immagine 64">
            <a:extLst>
              <a:ext uri="{FF2B5EF4-FFF2-40B4-BE49-F238E27FC236}">
                <a16:creationId xmlns:a16="http://schemas.microsoft.com/office/drawing/2014/main" id="{14F8A578-3EEE-4E8F-635C-FD1D0156409F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759374" y="4869523"/>
            <a:ext cx="1041675" cy="104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78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8426E-F6C7-EB2D-1FE6-0827496DB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E1FE17-68B4-94BD-BAAD-1EA0C095EE2C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C3EDDD-626A-38FE-1ABE-C01856BB576B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10CDF24-840C-CE30-9DE7-925EC4B296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C2E7F8-78AD-F71C-6405-1090602B2B11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5E8DE33-5161-56F0-3867-0F6B9D75E8A9}"/>
              </a:ext>
            </a:extLst>
          </p:cNvPr>
          <p:cNvSpPr txBox="1"/>
          <p:nvPr/>
        </p:nvSpPr>
        <p:spPr>
          <a:xfrm>
            <a:off x="473342" y="997011"/>
            <a:ext cx="11580435" cy="6001643"/>
          </a:xfrm>
          <a:prstGeom prst="rect">
            <a:avLst/>
          </a:prstGeom>
          <a:noFill/>
        </p:spPr>
        <p:txBody>
          <a:bodyPr wrap="square" numCol="2" rtlCol="0" anchor="ctr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Problem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Recent research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/>
              <a:t>Approach</a:t>
            </a:r>
            <a:endParaRPr lang="en-US" sz="2400" noProof="0" dirty="0"/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/>
              <a:t>Context</a:t>
            </a:r>
            <a:endParaRPr lang="en-US" sz="2400" noProof="0" dirty="0"/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/>
              <a:t>Confidence</a:t>
            </a:r>
            <a:endParaRPr lang="en-US" sz="2400" noProof="0" dirty="0"/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/>
              <a:t>Failure</a:t>
            </a:r>
            <a:endParaRPr lang="en-US" sz="2400" noProof="0" dirty="0"/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/>
              <a:t>Model 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Application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Behavior Tree manager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SLM manager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Results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Training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Confidence and Correctness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Experiments in simulation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481857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5771-EE63-CCA5-B040-CE83BD25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50A5907-D329-9ED1-4BA5-C40CD70BD1AC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989C03-5C08-D9F9-23CE-65E788B26EE0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1650D8B-B8FB-5DF9-A6AC-F37FB2B34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91A3D8-F2A6-2433-E348-AB5C33DE0E47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3</a:t>
            </a:r>
            <a:r>
              <a:rPr lang="en-US" sz="2400" noProof="0" dirty="0">
                <a:solidFill>
                  <a:schemeClr val="bg1"/>
                </a:solidFill>
              </a:rPr>
              <a:t>/22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42E8D1-2D46-3ED7-F9CE-1176790CB3CF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0381A-4A7C-73C0-97C8-CFBDA9C989E4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1. </a:t>
            </a:r>
            <a:r>
              <a:rPr lang="en-US" sz="2400" b="1" dirty="0">
                <a:solidFill>
                  <a:schemeClr val="bg1"/>
                </a:solidFill>
              </a:rPr>
              <a:t>Approach</a:t>
            </a:r>
            <a:endParaRPr lang="en-US" sz="2400" b="1" noProof="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C774C2-A754-0187-F7DD-2F0944A05762}"/>
              </a:ext>
            </a:extLst>
          </p:cNvPr>
          <p:cNvSpPr txBox="1"/>
          <p:nvPr/>
        </p:nvSpPr>
        <p:spPr>
          <a:xfrm>
            <a:off x="6847367" y="1646275"/>
            <a:ext cx="492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bg1"/>
                </a:solidFill>
              </a:rPr>
              <a:t>AUV</a:t>
            </a:r>
            <a:r>
              <a:rPr lang="en-US" sz="2000" noProof="0" dirty="0">
                <a:solidFill>
                  <a:schemeClr val="bg1"/>
                </a:solidFill>
              </a:rPr>
              <a:t>: </a:t>
            </a:r>
            <a:r>
              <a:rPr lang="en-US" sz="2000" b="1" noProof="0" dirty="0">
                <a:solidFill>
                  <a:schemeClr val="bg1"/>
                </a:solidFill>
              </a:rPr>
              <a:t>A</a:t>
            </a:r>
            <a:r>
              <a:rPr lang="en-US" sz="2000" noProof="0" dirty="0">
                <a:solidFill>
                  <a:schemeClr val="bg1"/>
                </a:solidFill>
              </a:rPr>
              <a:t>utonomous </a:t>
            </a:r>
            <a:r>
              <a:rPr lang="en-US" sz="2000" b="1" noProof="0" dirty="0">
                <a:solidFill>
                  <a:schemeClr val="bg1"/>
                </a:solidFill>
              </a:rPr>
              <a:t>U</a:t>
            </a:r>
            <a:r>
              <a:rPr lang="en-US" sz="2000" noProof="0" dirty="0">
                <a:solidFill>
                  <a:schemeClr val="bg1"/>
                </a:solidFill>
              </a:rPr>
              <a:t>nderwater </a:t>
            </a:r>
            <a:r>
              <a:rPr lang="en-US" sz="2000" b="1" noProof="0" dirty="0">
                <a:solidFill>
                  <a:schemeClr val="bg1"/>
                </a:solidFill>
              </a:rPr>
              <a:t>V</a:t>
            </a:r>
            <a:r>
              <a:rPr lang="en-US" sz="2000" noProof="0" dirty="0">
                <a:solidFill>
                  <a:schemeClr val="bg1"/>
                </a:solidFill>
              </a:rPr>
              <a:t>ehicle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E646DEA-31FB-42DC-AC96-8F9CD695B0EA}"/>
              </a:ext>
            </a:extLst>
          </p:cNvPr>
          <p:cNvCxnSpPr>
            <a:cxnSpLocks/>
          </p:cNvCxnSpPr>
          <p:nvPr/>
        </p:nvCxnSpPr>
        <p:spPr>
          <a:xfrm flipH="1">
            <a:off x="7049386" y="2046385"/>
            <a:ext cx="510363" cy="6542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Language SVG Vector Icon">
            <a:extLst>
              <a:ext uri="{FF2B5EF4-FFF2-40B4-BE49-F238E27FC236}">
                <a16:creationId xmlns:a16="http://schemas.microsoft.com/office/drawing/2014/main" id="{220BD517-6884-1413-1F86-050BDE357C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9549" y="2747377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20334A4D-709A-0D44-049C-48B151D3A38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86243" y="3225878"/>
            <a:ext cx="627196" cy="627196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E5C83AA-9737-2870-6B45-88F017CB5962}"/>
              </a:ext>
            </a:extLst>
          </p:cNvPr>
          <p:cNvSpPr txBox="1"/>
          <p:nvPr/>
        </p:nvSpPr>
        <p:spPr>
          <a:xfrm>
            <a:off x="8911749" y="2145080"/>
            <a:ext cx="1016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USER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6D62A97-A67F-E394-BFC3-CE1672E9290E}"/>
              </a:ext>
            </a:extLst>
          </p:cNvPr>
          <p:cNvSpPr txBox="1"/>
          <p:nvPr/>
        </p:nvSpPr>
        <p:spPr>
          <a:xfrm>
            <a:off x="6592480" y="3899388"/>
            <a:ext cx="1934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MISSION</a:t>
            </a:r>
          </a:p>
          <a:p>
            <a:pPr algn="ctr"/>
            <a:r>
              <a:rPr lang="en-GB" b="1" dirty="0"/>
              <a:t>INFO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43EE76E-8CD6-C0CE-EABE-367B9D7BCB6B}"/>
              </a:ext>
            </a:extLst>
          </p:cNvPr>
          <p:cNvSpPr txBox="1"/>
          <p:nvPr/>
        </p:nvSpPr>
        <p:spPr>
          <a:xfrm>
            <a:off x="10136272" y="4199106"/>
            <a:ext cx="1616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SLM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F8C352B-4D3B-1A13-2428-0EE5CDC0270D}"/>
              </a:ext>
            </a:extLst>
          </p:cNvPr>
          <p:cNvSpPr txBox="1"/>
          <p:nvPr/>
        </p:nvSpPr>
        <p:spPr>
          <a:xfrm>
            <a:off x="8258946" y="5507492"/>
            <a:ext cx="2374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AUV CONTROL SYSTEM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BDC2554A-C272-8305-132B-184301656A17}"/>
              </a:ext>
            </a:extLst>
          </p:cNvPr>
          <p:cNvCxnSpPr>
            <a:cxnSpLocks/>
          </p:cNvCxnSpPr>
          <p:nvPr/>
        </p:nvCxnSpPr>
        <p:spPr>
          <a:xfrm>
            <a:off x="10021529" y="2172051"/>
            <a:ext cx="667196" cy="7277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14" descr="Little Submarine icon | Freepik">
            <a:extLst>
              <a:ext uri="{FF2B5EF4-FFF2-40B4-BE49-F238E27FC236}">
                <a16:creationId xmlns:a16="http://schemas.microsoft.com/office/drawing/2014/main" id="{533D0C24-35A0-01D5-D325-E7C29BA88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437" y="4715177"/>
            <a:ext cx="919156" cy="91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Immagine 44">
            <a:extLst>
              <a:ext uri="{FF2B5EF4-FFF2-40B4-BE49-F238E27FC236}">
                <a16:creationId xmlns:a16="http://schemas.microsoft.com/office/drawing/2014/main" id="{CAD88E5F-81BD-0397-F26B-AFAB175B19B8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516812" y="3166472"/>
            <a:ext cx="962807" cy="962807"/>
          </a:xfrm>
          <a:prstGeom prst="rect">
            <a:avLst/>
          </a:prstGeom>
        </p:spPr>
      </p:pic>
      <p:pic>
        <p:nvPicPr>
          <p:cNvPr id="46" name="Immagine 45">
            <a:extLst>
              <a:ext uri="{FF2B5EF4-FFF2-40B4-BE49-F238E27FC236}">
                <a16:creationId xmlns:a16="http://schemas.microsoft.com/office/drawing/2014/main" id="{CFE32892-9E11-BA18-F5A7-1D85C6783655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8811858" y="1012118"/>
            <a:ext cx="1268314" cy="1268314"/>
          </a:xfrm>
          <a:prstGeom prst="rect">
            <a:avLst/>
          </a:prstGeom>
        </p:spPr>
      </p:pic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83A80092-4D02-AB57-88D5-98D1D5E58EDB}"/>
              </a:ext>
            </a:extLst>
          </p:cNvPr>
          <p:cNvCxnSpPr>
            <a:cxnSpLocks/>
          </p:cNvCxnSpPr>
          <p:nvPr/>
        </p:nvCxnSpPr>
        <p:spPr>
          <a:xfrm flipH="1">
            <a:off x="9894953" y="4095938"/>
            <a:ext cx="523738" cy="8274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8F61BA80-F403-675E-8D65-6D2A2A446094}"/>
              </a:ext>
            </a:extLst>
          </p:cNvPr>
          <p:cNvCxnSpPr>
            <a:cxnSpLocks/>
          </p:cNvCxnSpPr>
          <p:nvPr/>
        </p:nvCxnSpPr>
        <p:spPr>
          <a:xfrm flipH="1" flipV="1">
            <a:off x="8141840" y="4522271"/>
            <a:ext cx="727491" cy="5635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BDCDB30C-171E-7052-F7A4-A68489CDC0F9}"/>
              </a:ext>
            </a:extLst>
          </p:cNvPr>
          <p:cNvCxnSpPr>
            <a:cxnSpLocks/>
          </p:cNvCxnSpPr>
          <p:nvPr/>
        </p:nvCxnSpPr>
        <p:spPr>
          <a:xfrm>
            <a:off x="8002643" y="3671983"/>
            <a:ext cx="2352484" cy="378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6A1A5DA5-D40C-3C2D-4EA8-F5595DC98E3F}"/>
              </a:ext>
            </a:extLst>
          </p:cNvPr>
          <p:cNvSpPr txBox="1"/>
          <p:nvPr/>
        </p:nvSpPr>
        <p:spPr>
          <a:xfrm>
            <a:off x="0" y="1300311"/>
            <a:ext cx="89864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GOAL</a:t>
            </a:r>
          </a:p>
          <a:p>
            <a:pPr algn="ctr"/>
            <a:r>
              <a:rPr lang="en-US" sz="2400" dirty="0"/>
              <a:t>USER REQUEST 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⟹ </a:t>
            </a:r>
            <a:r>
              <a:rPr lang="en-US" sz="2400" dirty="0"/>
              <a:t> SUITABLE ROBOT ACTION</a:t>
            </a: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FC76CF65-2FC5-8183-031C-F3A78233EC53}"/>
              </a:ext>
            </a:extLst>
          </p:cNvPr>
          <p:cNvSpPr txBox="1"/>
          <p:nvPr/>
        </p:nvSpPr>
        <p:spPr>
          <a:xfrm>
            <a:off x="475150" y="2487549"/>
            <a:ext cx="60002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Workflow: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user issues a </a:t>
            </a:r>
            <a:r>
              <a:rPr lang="en-US" sz="2400" b="1" dirty="0"/>
              <a:t>request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Mission info</a:t>
            </a:r>
            <a:r>
              <a:rPr lang="en-US" sz="2400" dirty="0"/>
              <a:t> is retrieved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User request + mission info = SLM </a:t>
            </a:r>
            <a:r>
              <a:rPr lang="en-US" sz="2400" b="1" dirty="0"/>
              <a:t>prompt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SLM generates a </a:t>
            </a:r>
            <a:r>
              <a:rPr lang="en-US" sz="2400" b="1" dirty="0"/>
              <a:t>plan</a:t>
            </a:r>
            <a:r>
              <a:rPr lang="en-US" sz="2400" dirty="0"/>
              <a:t> to execute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Response </a:t>
            </a:r>
            <a:r>
              <a:rPr lang="en-US" sz="2400" b="1" dirty="0"/>
              <a:t>confidence</a:t>
            </a:r>
            <a:r>
              <a:rPr lang="en-US" sz="2400" dirty="0"/>
              <a:t> is evaluated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Only a confident plan is executed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Execution updates mission info</a:t>
            </a:r>
          </a:p>
        </p:txBody>
      </p:sp>
    </p:spTree>
    <p:extLst>
      <p:ext uri="{BB962C8B-B14F-4D97-AF65-F5344CB8AC3E}">
        <p14:creationId xmlns:p14="http://schemas.microsoft.com/office/powerpoint/2010/main" val="2393506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D47CE-9E22-5C8C-F5A4-D7B97F910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B0443F0-41D4-55A3-D4E8-24438A12F609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BE0E90-996F-A891-C715-9214D6C5CD90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371D006-5EA0-0AEF-056E-E5936C3AE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56293B-8606-151C-0A62-446D1D51B678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4/22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DE9FA2-0971-8B4C-91F6-BE8218CE761F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4E96D9-E602-C19D-DAFD-3BEBA0B0C52F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2</a:t>
            </a:r>
            <a:r>
              <a:rPr lang="en-US" sz="2400" noProof="0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Approach</a:t>
            </a:r>
            <a:endParaRPr lang="en-US" sz="2400" b="1" noProof="0" dirty="0">
              <a:solidFill>
                <a:schemeClr val="bg1"/>
              </a:solidFill>
            </a:endParaRPr>
          </a:p>
        </p:txBody>
      </p:sp>
      <p:pic>
        <p:nvPicPr>
          <p:cNvPr id="49" name="Immagine 48">
            <a:extLst>
              <a:ext uri="{FF2B5EF4-FFF2-40B4-BE49-F238E27FC236}">
                <a16:creationId xmlns:a16="http://schemas.microsoft.com/office/drawing/2014/main" id="{0D95AF17-E02F-5C83-534F-51FB74176B4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31809" y="3633969"/>
            <a:ext cx="1366345" cy="1366345"/>
          </a:xfrm>
          <a:prstGeom prst="rect">
            <a:avLst/>
          </a:prstGeom>
        </p:spPr>
      </p:pic>
      <p:pic>
        <p:nvPicPr>
          <p:cNvPr id="50" name="Elemento grafico 49">
            <a:extLst>
              <a:ext uri="{FF2B5EF4-FFF2-40B4-BE49-F238E27FC236}">
                <a16:creationId xmlns:a16="http://schemas.microsoft.com/office/drawing/2014/main" id="{A9AE9976-381D-4708-0B8A-4009AB63CCF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733" y="3849627"/>
            <a:ext cx="1145234" cy="1145234"/>
          </a:xfrm>
          <a:prstGeom prst="rect">
            <a:avLst/>
          </a:prstGeom>
        </p:spPr>
      </p:pic>
      <p:pic>
        <p:nvPicPr>
          <p:cNvPr id="51" name="Immagine 50">
            <a:extLst>
              <a:ext uri="{FF2B5EF4-FFF2-40B4-BE49-F238E27FC236}">
                <a16:creationId xmlns:a16="http://schemas.microsoft.com/office/drawing/2014/main" id="{1C2305EB-5BCE-DA2E-483D-AC5B3BE060C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70619" y="3846461"/>
            <a:ext cx="1073455" cy="1073455"/>
          </a:xfrm>
          <a:prstGeom prst="rect">
            <a:avLst/>
          </a:prstGeom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0C101092-D013-2462-02A6-03B945BDC64A}"/>
              </a:ext>
            </a:extLst>
          </p:cNvPr>
          <p:cNvSpPr txBox="1"/>
          <p:nvPr/>
        </p:nvSpPr>
        <p:spPr>
          <a:xfrm>
            <a:off x="452670" y="5072742"/>
            <a:ext cx="2069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PROMPT</a:t>
            </a:r>
            <a:br>
              <a:rPr lang="en-GB" b="1" dirty="0"/>
            </a:br>
            <a:r>
              <a:rPr lang="en-GB" b="1" dirty="0"/>
              <a:t>(INSTRUCTIONS)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F8245862-62B1-BA47-D8FF-0477DE595E34}"/>
              </a:ext>
            </a:extLst>
          </p:cNvPr>
          <p:cNvSpPr txBox="1"/>
          <p:nvPr/>
        </p:nvSpPr>
        <p:spPr>
          <a:xfrm>
            <a:off x="3431809" y="5074424"/>
            <a:ext cx="1431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SLM</a:t>
            </a:r>
          </a:p>
          <a:p>
            <a:pPr algn="ctr"/>
            <a:r>
              <a:rPr lang="en-GB" b="1" dirty="0"/>
              <a:t>(PLANNER)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50E1B88C-A0E0-6A95-5C99-A590E0424BF4}"/>
              </a:ext>
            </a:extLst>
          </p:cNvPr>
          <p:cNvSpPr txBox="1"/>
          <p:nvPr/>
        </p:nvSpPr>
        <p:spPr>
          <a:xfrm>
            <a:off x="6091807" y="5072742"/>
            <a:ext cx="1431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RESPONSE</a:t>
            </a:r>
          </a:p>
          <a:p>
            <a:pPr algn="ctr"/>
            <a:r>
              <a:rPr lang="en-GB" b="1" dirty="0"/>
              <a:t>(PLAN)</a:t>
            </a:r>
          </a:p>
        </p:txBody>
      </p: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F0943A1F-CCB8-A208-F648-345C920FFB63}"/>
              </a:ext>
            </a:extLst>
          </p:cNvPr>
          <p:cNvCxnSpPr>
            <a:cxnSpLocks/>
          </p:cNvCxnSpPr>
          <p:nvPr/>
        </p:nvCxnSpPr>
        <p:spPr>
          <a:xfrm>
            <a:off x="2351750" y="4386354"/>
            <a:ext cx="788276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sellaDiTesto 55">
                <a:extLst>
                  <a:ext uri="{FF2B5EF4-FFF2-40B4-BE49-F238E27FC236}">
                    <a16:creationId xmlns:a16="http://schemas.microsoft.com/office/drawing/2014/main" id="{A89217E9-B0C5-B160-B5BD-44FE67DF9CF1}"/>
                  </a:ext>
                </a:extLst>
              </p:cNvPr>
              <p:cNvSpPr txBox="1"/>
              <p:nvPr/>
            </p:nvSpPr>
            <p:spPr>
              <a:xfrm>
                <a:off x="7773492" y="4140132"/>
                <a:ext cx="3879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 smtClean="0">
                          <a:latin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6" name="CasellaDiTesto 55">
                <a:extLst>
                  <a:ext uri="{FF2B5EF4-FFF2-40B4-BE49-F238E27FC236}">
                    <a16:creationId xmlns:a16="http://schemas.microsoft.com/office/drawing/2014/main" id="{A89217E9-B0C5-B160-B5BD-44FE67DF9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492" y="4140132"/>
                <a:ext cx="38792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7135A443-C2FC-0096-23BE-C9E17634FB48}"/>
              </a:ext>
            </a:extLst>
          </p:cNvPr>
          <p:cNvCxnSpPr>
            <a:cxnSpLocks/>
          </p:cNvCxnSpPr>
          <p:nvPr/>
        </p:nvCxnSpPr>
        <p:spPr>
          <a:xfrm>
            <a:off x="5115970" y="4386354"/>
            <a:ext cx="788276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Immagine 57">
            <a:extLst>
              <a:ext uri="{FF2B5EF4-FFF2-40B4-BE49-F238E27FC236}">
                <a16:creationId xmlns:a16="http://schemas.microsoft.com/office/drawing/2014/main" id="{4E5B91FC-BDD0-D447-25DA-3E69AD77E84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57973" y="2709059"/>
            <a:ext cx="924910" cy="924910"/>
          </a:xfrm>
          <a:prstGeom prst="rect">
            <a:avLst/>
          </a:prstGeom>
        </p:spPr>
      </p:pic>
      <p:pic>
        <p:nvPicPr>
          <p:cNvPr id="59" name="Immagine 58">
            <a:extLst>
              <a:ext uri="{FF2B5EF4-FFF2-40B4-BE49-F238E27FC236}">
                <a16:creationId xmlns:a16="http://schemas.microsoft.com/office/drawing/2014/main" id="{314EFC2E-25A4-7913-A304-CCAE71E31109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57973" y="3854686"/>
            <a:ext cx="924910" cy="924910"/>
          </a:xfrm>
          <a:prstGeom prst="rect">
            <a:avLst/>
          </a:prstGeom>
        </p:spPr>
      </p:pic>
      <p:pic>
        <p:nvPicPr>
          <p:cNvPr id="60" name="Immagine 59">
            <a:extLst>
              <a:ext uri="{FF2B5EF4-FFF2-40B4-BE49-F238E27FC236}">
                <a16:creationId xmlns:a16="http://schemas.microsoft.com/office/drawing/2014/main" id="{7414C070-7D53-1E3C-3962-C6E7B342A32E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57973" y="5074424"/>
            <a:ext cx="924910" cy="924910"/>
          </a:xfrm>
          <a:prstGeom prst="rect">
            <a:avLst/>
          </a:prstGeom>
        </p:spPr>
      </p:pic>
      <p:sp>
        <p:nvSpPr>
          <p:cNvPr id="61" name="Parentesi graffa aperta 60">
            <a:extLst>
              <a:ext uri="{FF2B5EF4-FFF2-40B4-BE49-F238E27FC236}">
                <a16:creationId xmlns:a16="http://schemas.microsoft.com/office/drawing/2014/main" id="{5C79BC52-56C2-17B3-5221-D5F79F467BA9}"/>
              </a:ext>
            </a:extLst>
          </p:cNvPr>
          <p:cNvSpPr/>
          <p:nvPr/>
        </p:nvSpPr>
        <p:spPr>
          <a:xfrm>
            <a:off x="8325893" y="2709059"/>
            <a:ext cx="594822" cy="3444764"/>
          </a:xfrm>
          <a:prstGeom prst="leftBrac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472F575B-48D4-1474-96A3-A82B93543D5F}"/>
              </a:ext>
            </a:extLst>
          </p:cNvPr>
          <p:cNvSpPr txBox="1"/>
          <p:nvPr/>
        </p:nvSpPr>
        <p:spPr>
          <a:xfrm>
            <a:off x="10520141" y="4043494"/>
            <a:ext cx="1431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TASK</a:t>
            </a:r>
            <a:br>
              <a:rPr lang="en-GB" b="1" dirty="0"/>
            </a:br>
            <a:r>
              <a:rPr lang="en-GB" b="1" dirty="0"/>
              <a:t>SEQUENCE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59F3F5F3-45C6-77B9-B82E-3A28A9CF0B5E}"/>
              </a:ext>
            </a:extLst>
          </p:cNvPr>
          <p:cNvSpPr txBox="1"/>
          <p:nvPr/>
        </p:nvSpPr>
        <p:spPr>
          <a:xfrm>
            <a:off x="771810" y="990600"/>
            <a:ext cx="775170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small language model is called </a:t>
            </a:r>
            <a:r>
              <a:rPr lang="en-US" sz="2000" b="1" dirty="0"/>
              <a:t>planner </a:t>
            </a:r>
            <a:r>
              <a:rPr lang="en-US" sz="2000" dirty="0"/>
              <a:t>in this work</a:t>
            </a:r>
            <a:r>
              <a:rPr lang="en-US" sz="2000" b="1" dirty="0"/>
              <a:t>, </a:t>
            </a:r>
            <a:r>
              <a:rPr lang="en-US" sz="2000" dirty="0"/>
              <a:t>because it generates a plan, which is a sequence of tasks to execute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request is sent to the planner in  </a:t>
            </a:r>
            <a:r>
              <a:rPr lang="en-US" sz="2000" b="1" dirty="0"/>
              <a:t>text</a:t>
            </a:r>
            <a:r>
              <a:rPr lang="en-US" sz="2000" dirty="0"/>
              <a:t> form through the </a:t>
            </a:r>
            <a:r>
              <a:rPr lang="en-US" sz="2000" b="1" dirty="0"/>
              <a:t>prompt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response</a:t>
            </a:r>
            <a:r>
              <a:rPr lang="en-US" sz="2000" dirty="0"/>
              <a:t>, also in text form, consist </a:t>
            </a:r>
            <a:r>
              <a:rPr lang="en-US" sz="2000" u="sng" dirty="0"/>
              <a:t>only</a:t>
            </a:r>
            <a:r>
              <a:rPr lang="en-US" sz="2000" dirty="0"/>
              <a:t> of the task to complete, </a:t>
            </a:r>
            <a:r>
              <a:rPr lang="en-US" sz="2000" u="sng" dirty="0"/>
              <a:t>listed by their name tag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27062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C706F-9D7E-6769-5836-B24E85CD9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FBF544-77FC-C2FE-93F8-C295894D4DE9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3FD898-ACB0-A88E-8FE6-F57E310AC454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3F8AD75-C97C-D353-A150-CA0D6DD8A4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87C802-FE5E-4A2F-815A-536F2DD1D496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5</a:t>
            </a:r>
            <a:r>
              <a:rPr lang="en-US" sz="2400" noProof="0" dirty="0">
                <a:solidFill>
                  <a:schemeClr val="bg1"/>
                </a:solidFill>
              </a:rPr>
              <a:t>/22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608409-A3DD-C065-8296-8A3DC9739194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B73D8-EE4B-23FB-DB30-51B0E55A8FD2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1. </a:t>
            </a:r>
            <a:r>
              <a:rPr lang="en-US" sz="2400" b="1" dirty="0">
                <a:solidFill>
                  <a:schemeClr val="bg1"/>
                </a:solidFill>
              </a:rPr>
              <a:t>Approach - Context</a:t>
            </a:r>
            <a:endParaRPr lang="en-US" sz="2400" b="1" noProof="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6FE07A-1BB1-8CD0-A2E5-35365ECA05DC}"/>
              </a:ext>
            </a:extLst>
          </p:cNvPr>
          <p:cNvSpPr txBox="1"/>
          <p:nvPr/>
        </p:nvSpPr>
        <p:spPr>
          <a:xfrm>
            <a:off x="6847367" y="1646275"/>
            <a:ext cx="492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bg1"/>
                </a:solidFill>
              </a:rPr>
              <a:t>AUV</a:t>
            </a:r>
            <a:r>
              <a:rPr lang="en-US" sz="2000" noProof="0" dirty="0">
                <a:solidFill>
                  <a:schemeClr val="bg1"/>
                </a:solidFill>
              </a:rPr>
              <a:t>: </a:t>
            </a:r>
            <a:r>
              <a:rPr lang="en-US" sz="2000" b="1" noProof="0" dirty="0">
                <a:solidFill>
                  <a:schemeClr val="bg1"/>
                </a:solidFill>
              </a:rPr>
              <a:t>A</a:t>
            </a:r>
            <a:r>
              <a:rPr lang="en-US" sz="2000" noProof="0" dirty="0">
                <a:solidFill>
                  <a:schemeClr val="bg1"/>
                </a:solidFill>
              </a:rPr>
              <a:t>utonomous </a:t>
            </a:r>
            <a:r>
              <a:rPr lang="en-US" sz="2000" b="1" noProof="0" dirty="0">
                <a:solidFill>
                  <a:schemeClr val="bg1"/>
                </a:solidFill>
              </a:rPr>
              <a:t>U</a:t>
            </a:r>
            <a:r>
              <a:rPr lang="en-US" sz="2000" noProof="0" dirty="0">
                <a:solidFill>
                  <a:schemeClr val="bg1"/>
                </a:solidFill>
              </a:rPr>
              <a:t>nderwater </a:t>
            </a:r>
            <a:r>
              <a:rPr lang="en-US" sz="2000" b="1" noProof="0" dirty="0">
                <a:solidFill>
                  <a:schemeClr val="bg1"/>
                </a:solidFill>
              </a:rPr>
              <a:t>V</a:t>
            </a:r>
            <a:r>
              <a:rPr lang="en-US" sz="2000" noProof="0" dirty="0">
                <a:solidFill>
                  <a:schemeClr val="bg1"/>
                </a:solidFill>
              </a:rPr>
              <a:t>ehicle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3B2E7CD-BEB4-D6DC-E730-DDC9E3BA54FB}"/>
              </a:ext>
            </a:extLst>
          </p:cNvPr>
          <p:cNvCxnSpPr>
            <a:cxnSpLocks/>
          </p:cNvCxnSpPr>
          <p:nvPr/>
        </p:nvCxnSpPr>
        <p:spPr>
          <a:xfrm flipH="1">
            <a:off x="7049386" y="2046385"/>
            <a:ext cx="510363" cy="6542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Language SVG Vector Icon">
            <a:extLst>
              <a:ext uri="{FF2B5EF4-FFF2-40B4-BE49-F238E27FC236}">
                <a16:creationId xmlns:a16="http://schemas.microsoft.com/office/drawing/2014/main" id="{E175C0B2-D8FB-E6EA-A403-1A45D29C88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9549" y="2747377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9262EA5-E260-C418-B167-F33C14E1CD22}"/>
              </a:ext>
            </a:extLst>
          </p:cNvPr>
          <p:cNvSpPr txBox="1"/>
          <p:nvPr/>
        </p:nvSpPr>
        <p:spPr>
          <a:xfrm>
            <a:off x="514161" y="1542530"/>
            <a:ext cx="10965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CONTEXT = Minimum amount of information needed from the model to make the right decision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5BC0BFC-0E2A-28F7-CF4A-ABBBBC75E383}"/>
              </a:ext>
            </a:extLst>
          </p:cNvPr>
          <p:cNvSpPr txBox="1"/>
          <p:nvPr/>
        </p:nvSpPr>
        <p:spPr>
          <a:xfrm>
            <a:off x="514161" y="3145971"/>
            <a:ext cx="109654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U = User request, C= Context, R= Model response</a:t>
            </a:r>
          </a:p>
          <a:p>
            <a:endParaRPr lang="en-US" dirty="0"/>
          </a:p>
          <a:p>
            <a:r>
              <a:rPr lang="en-US" dirty="0"/>
              <a:t>U: “pass between the buoys”,  C: “No buoys found so far”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⟹  </a:t>
            </a:r>
            <a:r>
              <a:rPr lang="en-US" dirty="0"/>
              <a:t>R: “find buoy, find buoy, pass through” </a:t>
            </a:r>
          </a:p>
          <a:p>
            <a:endParaRPr lang="en-US" dirty="0"/>
          </a:p>
          <a:p>
            <a:r>
              <a:rPr lang="en-US" dirty="0"/>
              <a:t>U: “pass between the buoys”,  C: “One buoy found”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⟹  </a:t>
            </a:r>
            <a:r>
              <a:rPr lang="en-US" dirty="0"/>
              <a:t>R: “find buoy, pass through” </a:t>
            </a:r>
          </a:p>
          <a:p>
            <a:endParaRPr lang="en-US" dirty="0"/>
          </a:p>
          <a:p>
            <a:r>
              <a:rPr lang="en-US" dirty="0"/>
              <a:t>U: “pass between the buoys”,  C: “Both buoys found” 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⟹  </a:t>
            </a:r>
            <a:r>
              <a:rPr lang="en-US" dirty="0"/>
              <a:t>R: “pass through”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142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AB7EF-B400-25C7-DF9C-BA3E16FA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BEDC74-2AFA-B66B-9B34-21E8029C2DD9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83942E-3DAD-23B5-1430-E88B46E73362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8EC921B-715D-5E32-8DC5-1EFCA6114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87A1BC-4C46-461D-36E9-8009DAE4F79B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noProof="0" dirty="0">
                <a:solidFill>
                  <a:schemeClr val="bg1"/>
                </a:solidFill>
              </a:rPr>
              <a:t>6/22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72A74-A302-9CD8-EB33-BF98B382E9AC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67A4A7-F40A-3033-D6CB-E39A94CD5EAD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1. </a:t>
            </a:r>
            <a:r>
              <a:rPr lang="en-US" sz="2400" b="1" noProof="0" dirty="0">
                <a:solidFill>
                  <a:schemeClr val="bg1"/>
                </a:solidFill>
              </a:rPr>
              <a:t>Introduction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5B43656-5E63-7EEF-28BF-3E91607E5BE4}"/>
              </a:ext>
            </a:extLst>
          </p:cNvPr>
          <p:cNvCxnSpPr>
            <a:cxnSpLocks/>
          </p:cNvCxnSpPr>
          <p:nvPr/>
        </p:nvCxnSpPr>
        <p:spPr>
          <a:xfrm flipH="1">
            <a:off x="7049386" y="2046385"/>
            <a:ext cx="510363" cy="6542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7A0A9EF-FFDB-2700-CE8B-2E031008730F}"/>
              </a:ext>
            </a:extLst>
          </p:cNvPr>
          <p:cNvSpPr txBox="1"/>
          <p:nvPr/>
        </p:nvSpPr>
        <p:spPr>
          <a:xfrm>
            <a:off x="9150513" y="4481286"/>
            <a:ext cx="258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Posidonia Oceanica</a:t>
            </a:r>
          </a:p>
        </p:txBody>
      </p:sp>
      <p:sp>
        <p:nvSpPr>
          <p:cNvPr id="8" name="AutoShape 2" descr="Language SVG Vector Icon">
            <a:extLst>
              <a:ext uri="{FF2B5EF4-FFF2-40B4-BE49-F238E27FC236}">
                <a16:creationId xmlns:a16="http://schemas.microsoft.com/office/drawing/2014/main" id="{8A7E5098-B0D1-E7E6-E117-4BD2D1FAB8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01903" y="40535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" name="Elemento grafico 3" descr="Contachilometri in basso con riempimento a tinta unita">
            <a:extLst>
              <a:ext uri="{FF2B5EF4-FFF2-40B4-BE49-F238E27FC236}">
                <a16:creationId xmlns:a16="http://schemas.microsoft.com/office/drawing/2014/main" id="{BCC03623-7716-7FC4-87D1-5C9B23A7893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0598" y="4291435"/>
            <a:ext cx="1073176" cy="1073176"/>
          </a:xfrm>
          <a:prstGeom prst="rect">
            <a:avLst/>
          </a:prstGeom>
        </p:spPr>
      </p:pic>
      <p:pic>
        <p:nvPicPr>
          <p:cNvPr id="12" name="Elemento grafico 11" descr="Ricerca con riempimento a tinta unita">
            <a:extLst>
              <a:ext uri="{FF2B5EF4-FFF2-40B4-BE49-F238E27FC236}">
                <a16:creationId xmlns:a16="http://schemas.microsoft.com/office/drawing/2014/main" id="{BBC0615A-5EA5-D5DB-CE11-EC6DB72078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11181" y="4275679"/>
            <a:ext cx="424699" cy="424699"/>
          </a:xfrm>
          <a:prstGeom prst="rect">
            <a:avLst/>
          </a:prstGeom>
        </p:spPr>
      </p:pic>
      <p:pic>
        <p:nvPicPr>
          <p:cNvPr id="13" name="Elemento grafico 12" descr="Smile di Harvey Ball 70% con riempimento a tinta unita">
            <a:extLst>
              <a:ext uri="{FF2B5EF4-FFF2-40B4-BE49-F238E27FC236}">
                <a16:creationId xmlns:a16="http://schemas.microsoft.com/office/drawing/2014/main" id="{BD7705DD-FBBC-336D-D73C-05349DC3F0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83836" y="2643740"/>
            <a:ext cx="914400" cy="914400"/>
          </a:xfrm>
          <a:prstGeom prst="rect">
            <a:avLst/>
          </a:prstGeom>
        </p:spPr>
      </p:pic>
      <p:pic>
        <p:nvPicPr>
          <p:cNvPr id="14" name="Elemento grafico 13" descr="Smile di Harvey Ball 40% con riempimento a tinta unita">
            <a:extLst>
              <a:ext uri="{FF2B5EF4-FFF2-40B4-BE49-F238E27FC236}">
                <a16:creationId xmlns:a16="http://schemas.microsoft.com/office/drawing/2014/main" id="{2B4B752F-22A2-C696-476B-D1A5CFE6E7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7898" y="4581100"/>
            <a:ext cx="914400" cy="91440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479B978D-2D7E-C06E-E52D-7B091454F1CF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48294" y="4488029"/>
            <a:ext cx="846264" cy="846264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877C7E2-5123-92BD-CF86-DCA45850C3E1}"/>
              </a:ext>
            </a:extLst>
          </p:cNvPr>
          <p:cNvSpPr txBox="1"/>
          <p:nvPr/>
        </p:nvSpPr>
        <p:spPr>
          <a:xfrm>
            <a:off x="872252" y="5364611"/>
            <a:ext cx="1431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RESPONSE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CCAF792-582C-5515-E12F-88E69061B261}"/>
              </a:ext>
            </a:extLst>
          </p:cNvPr>
          <p:cNvSpPr txBox="1"/>
          <p:nvPr/>
        </p:nvSpPr>
        <p:spPr>
          <a:xfrm>
            <a:off x="3107524" y="5355516"/>
            <a:ext cx="174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EVALUATION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AED578E-573E-9381-3A58-F19C0F08A05E}"/>
              </a:ext>
            </a:extLst>
          </p:cNvPr>
          <p:cNvSpPr txBox="1"/>
          <p:nvPr/>
        </p:nvSpPr>
        <p:spPr>
          <a:xfrm>
            <a:off x="5474675" y="5334293"/>
            <a:ext cx="174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SCORE</a:t>
            </a:r>
          </a:p>
        </p:txBody>
      </p:sp>
      <p:pic>
        <p:nvPicPr>
          <p:cNvPr id="21" name="Elemento grafico 20" descr="Badge Punto interrogativo con riempimento a tinta unita">
            <a:extLst>
              <a:ext uri="{FF2B5EF4-FFF2-40B4-BE49-F238E27FC236}">
                <a16:creationId xmlns:a16="http://schemas.microsoft.com/office/drawing/2014/main" id="{A194BC46-96C8-EC14-58A9-A8B36FB15168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35323" y="4526939"/>
            <a:ext cx="914400" cy="914400"/>
          </a:xfrm>
          <a:prstGeom prst="rect">
            <a:avLst/>
          </a:prstGeom>
        </p:spPr>
      </p:pic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F5544C56-0629-28CE-D7B4-E60F442027FB}"/>
              </a:ext>
            </a:extLst>
          </p:cNvPr>
          <p:cNvCxnSpPr>
            <a:cxnSpLocks/>
          </p:cNvCxnSpPr>
          <p:nvPr/>
        </p:nvCxnSpPr>
        <p:spPr>
          <a:xfrm>
            <a:off x="2319248" y="4920031"/>
            <a:ext cx="7882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91765CD2-F895-497B-F456-AFB7ACA37CBD}"/>
              </a:ext>
            </a:extLst>
          </p:cNvPr>
          <p:cNvCxnSpPr>
            <a:cxnSpLocks/>
          </p:cNvCxnSpPr>
          <p:nvPr/>
        </p:nvCxnSpPr>
        <p:spPr>
          <a:xfrm>
            <a:off x="4768158" y="4962072"/>
            <a:ext cx="7882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27AEBE91-2E28-6E11-AB94-D548320B112E}"/>
              </a:ext>
            </a:extLst>
          </p:cNvPr>
          <p:cNvCxnSpPr>
            <a:cxnSpLocks/>
          </p:cNvCxnSpPr>
          <p:nvPr/>
        </p:nvCxnSpPr>
        <p:spPr>
          <a:xfrm flipV="1">
            <a:off x="6898107" y="3271720"/>
            <a:ext cx="1208692" cy="125521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FE75E98A-ACD0-3139-2C2F-F0E975142EC9}"/>
              </a:ext>
            </a:extLst>
          </p:cNvPr>
          <p:cNvCxnSpPr>
            <a:cxnSpLocks/>
          </p:cNvCxnSpPr>
          <p:nvPr/>
        </p:nvCxnSpPr>
        <p:spPr>
          <a:xfrm>
            <a:off x="9362057" y="3138445"/>
            <a:ext cx="7600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2BB16410-F629-B780-0F05-A20674A83F87}"/>
              </a:ext>
            </a:extLst>
          </p:cNvPr>
          <p:cNvCxnSpPr>
            <a:cxnSpLocks/>
          </p:cNvCxnSpPr>
          <p:nvPr/>
        </p:nvCxnSpPr>
        <p:spPr>
          <a:xfrm>
            <a:off x="9465701" y="4986868"/>
            <a:ext cx="7600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945C3B51-EDD4-6C78-FA53-5130AADC901C}"/>
              </a:ext>
            </a:extLst>
          </p:cNvPr>
          <p:cNvSpPr txBox="1"/>
          <p:nvPr/>
        </p:nvSpPr>
        <p:spPr>
          <a:xfrm>
            <a:off x="9928146" y="3343966"/>
            <a:ext cx="174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EXECUTION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6A1803B-B25D-7905-C84A-2B974A72CF6D}"/>
              </a:ext>
            </a:extLst>
          </p:cNvPr>
          <p:cNvSpPr txBox="1"/>
          <p:nvPr/>
        </p:nvSpPr>
        <p:spPr>
          <a:xfrm>
            <a:off x="10021281" y="5495500"/>
            <a:ext cx="192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CLARIFICATION</a:t>
            </a:r>
            <a:br>
              <a:rPr lang="en-GB" b="1" dirty="0"/>
            </a:br>
            <a:r>
              <a:rPr lang="en-GB" b="1" dirty="0"/>
              <a:t>REQUEST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8C04A0E8-9CBE-6F0F-2ED4-1BEB7D7EE8E7}"/>
              </a:ext>
            </a:extLst>
          </p:cNvPr>
          <p:cNvSpPr txBox="1"/>
          <p:nvPr/>
        </p:nvSpPr>
        <p:spPr>
          <a:xfrm>
            <a:off x="7770722" y="3639212"/>
            <a:ext cx="1742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OVER</a:t>
            </a:r>
            <a:br>
              <a:rPr lang="en-GB" b="1" dirty="0"/>
            </a:br>
            <a:r>
              <a:rPr lang="en-GB" b="1" dirty="0"/>
              <a:t>THRESHOLD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0DD5FC0-69F4-9E45-6C32-783FE07CAD1C}"/>
              </a:ext>
            </a:extLst>
          </p:cNvPr>
          <p:cNvSpPr txBox="1"/>
          <p:nvPr/>
        </p:nvSpPr>
        <p:spPr>
          <a:xfrm>
            <a:off x="7883031" y="5495500"/>
            <a:ext cx="1742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BELOW</a:t>
            </a:r>
            <a:br>
              <a:rPr lang="en-GB" b="1" dirty="0"/>
            </a:br>
            <a:r>
              <a:rPr lang="en-GB" b="1" dirty="0"/>
              <a:t>THRESHOLD</a:t>
            </a:r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F0F124BC-1B4A-8ACB-992C-51DFB92BA8B8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64658" y="4464150"/>
            <a:ext cx="846265" cy="846265"/>
          </a:xfrm>
          <a:prstGeom prst="rect">
            <a:avLst/>
          </a:prstGeom>
        </p:spPr>
      </p:pic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C3333431-3E2E-BDA0-B352-64711B72F6EC}"/>
              </a:ext>
            </a:extLst>
          </p:cNvPr>
          <p:cNvCxnSpPr>
            <a:cxnSpLocks/>
          </p:cNvCxnSpPr>
          <p:nvPr/>
        </p:nvCxnSpPr>
        <p:spPr>
          <a:xfrm>
            <a:off x="7217158" y="4986868"/>
            <a:ext cx="7882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6">
            <a:extLst>
              <a:ext uri="{FF2B5EF4-FFF2-40B4-BE49-F238E27FC236}">
                <a16:creationId xmlns:a16="http://schemas.microsoft.com/office/drawing/2014/main" id="{838649B6-3968-6033-3E3B-8F37C917623E}"/>
              </a:ext>
            </a:extLst>
          </p:cNvPr>
          <p:cNvSpPr/>
          <p:nvPr/>
        </p:nvSpPr>
        <p:spPr>
          <a:xfrm>
            <a:off x="-909" y="0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1">
            <a:extLst>
              <a:ext uri="{FF2B5EF4-FFF2-40B4-BE49-F238E27FC236}">
                <a16:creationId xmlns:a16="http://schemas.microsoft.com/office/drawing/2014/main" id="{4E5F6096-C148-1EFE-D818-E3877934BDE6}"/>
              </a:ext>
            </a:extLst>
          </p:cNvPr>
          <p:cNvSpPr txBox="1"/>
          <p:nvPr/>
        </p:nvSpPr>
        <p:spPr>
          <a:xfrm>
            <a:off x="137313" y="131909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2</a:t>
            </a:r>
            <a:r>
              <a:rPr lang="en-US" sz="2400" noProof="0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Approach</a:t>
            </a:r>
            <a:r>
              <a:rPr lang="en-US" sz="2400" b="1" noProof="0" dirty="0">
                <a:solidFill>
                  <a:schemeClr val="bg1"/>
                </a:solidFill>
              </a:rPr>
              <a:t> - Confidence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1DA2F11B-E8A5-A1E1-721E-251326D3FB60}"/>
              </a:ext>
            </a:extLst>
          </p:cNvPr>
          <p:cNvSpPr txBox="1"/>
          <p:nvPr/>
        </p:nvSpPr>
        <p:spPr>
          <a:xfrm>
            <a:off x="423703" y="1394193"/>
            <a:ext cx="74593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Confidence = Model trust in response correctness</a:t>
            </a:r>
          </a:p>
          <a:p>
            <a:r>
              <a:rPr lang="en-US" sz="2400" dirty="0"/>
              <a:t>Used as a safety measure to prevent the direct execution of potentially erroneous tasks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score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&gt; </a:t>
            </a:r>
            <a:r>
              <a:rPr lang="en-US" sz="2400" dirty="0"/>
              <a:t>threshold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⟶</a:t>
            </a:r>
            <a:r>
              <a:rPr lang="en-US" sz="2400" dirty="0"/>
              <a:t> sequence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score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⩽ </a:t>
            </a:r>
            <a:r>
              <a:rPr lang="en-US" sz="2400" dirty="0"/>
              <a:t>threshold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⟶</a:t>
            </a:r>
            <a:r>
              <a:rPr lang="en-US" sz="2400" dirty="0"/>
              <a:t> clarification request</a:t>
            </a:r>
          </a:p>
        </p:txBody>
      </p:sp>
      <p:pic>
        <p:nvPicPr>
          <p:cNvPr id="3" name="Picture 14" descr="Little Submarine icon | Freepik">
            <a:extLst>
              <a:ext uri="{FF2B5EF4-FFF2-40B4-BE49-F238E27FC236}">
                <a16:creationId xmlns:a16="http://schemas.microsoft.com/office/drawing/2014/main" id="{583075E1-14BA-1045-1202-4B30CEEEF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9810" y="2598399"/>
            <a:ext cx="919156" cy="91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5136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5E732-0F23-B49F-5F6B-E594E67A5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4B620-4D92-154E-987A-7E81D7CDE7BC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12761ED-3035-646A-0608-EEF5C2D6B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778041-BBE1-79C8-BDA8-A7CA6055CA60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noProof="0" dirty="0">
                <a:solidFill>
                  <a:schemeClr val="bg1"/>
                </a:solidFill>
              </a:rPr>
              <a:t>7/22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F0E27F-CF2A-391A-72DC-F061165194C9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F2D58-3CC3-99B6-5C76-B1106504D0BB}"/>
              </a:ext>
            </a:extLst>
          </p:cNvPr>
          <p:cNvSpPr txBox="1"/>
          <p:nvPr/>
        </p:nvSpPr>
        <p:spPr>
          <a:xfrm>
            <a:off x="6847367" y="1646275"/>
            <a:ext cx="492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bg1"/>
                </a:solidFill>
              </a:rPr>
              <a:t>AUV</a:t>
            </a:r>
            <a:r>
              <a:rPr lang="en-US" sz="2000" noProof="0" dirty="0">
                <a:solidFill>
                  <a:schemeClr val="bg1"/>
                </a:solidFill>
              </a:rPr>
              <a:t>: </a:t>
            </a:r>
            <a:r>
              <a:rPr lang="en-US" sz="2000" b="1" noProof="0" dirty="0">
                <a:solidFill>
                  <a:schemeClr val="bg1"/>
                </a:solidFill>
              </a:rPr>
              <a:t>A</a:t>
            </a:r>
            <a:r>
              <a:rPr lang="en-US" sz="2000" noProof="0" dirty="0">
                <a:solidFill>
                  <a:schemeClr val="bg1"/>
                </a:solidFill>
              </a:rPr>
              <a:t>utonomous </a:t>
            </a:r>
            <a:r>
              <a:rPr lang="en-US" sz="2000" b="1" noProof="0" dirty="0">
                <a:solidFill>
                  <a:schemeClr val="bg1"/>
                </a:solidFill>
              </a:rPr>
              <a:t>U</a:t>
            </a:r>
            <a:r>
              <a:rPr lang="en-US" sz="2000" noProof="0" dirty="0">
                <a:solidFill>
                  <a:schemeClr val="bg1"/>
                </a:solidFill>
              </a:rPr>
              <a:t>nderwater </a:t>
            </a:r>
            <a:r>
              <a:rPr lang="en-US" sz="2000" b="1" noProof="0" dirty="0">
                <a:solidFill>
                  <a:schemeClr val="bg1"/>
                </a:solidFill>
              </a:rPr>
              <a:t>V</a:t>
            </a:r>
            <a:r>
              <a:rPr lang="en-US" sz="2000" noProof="0" dirty="0">
                <a:solidFill>
                  <a:schemeClr val="bg1"/>
                </a:solidFill>
              </a:rPr>
              <a:t>ehicle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FA011C4-BEE0-EB69-0608-43C2E2733837}"/>
              </a:ext>
            </a:extLst>
          </p:cNvPr>
          <p:cNvCxnSpPr>
            <a:cxnSpLocks/>
          </p:cNvCxnSpPr>
          <p:nvPr/>
        </p:nvCxnSpPr>
        <p:spPr>
          <a:xfrm flipH="1">
            <a:off x="9951424" y="2046385"/>
            <a:ext cx="510363" cy="6542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Language SVG Vector Icon">
            <a:extLst>
              <a:ext uri="{FF2B5EF4-FFF2-40B4-BE49-F238E27FC236}">
                <a16:creationId xmlns:a16="http://schemas.microsoft.com/office/drawing/2014/main" id="{15F69699-A11C-EDDA-E7FC-46F6D7E9CB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724501" y="295163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F9F52BD8-3CFF-9570-DA7C-413335E6247D}"/>
              </a:ext>
            </a:extLst>
          </p:cNvPr>
          <p:cNvSpPr txBox="1"/>
          <p:nvPr/>
        </p:nvSpPr>
        <p:spPr>
          <a:xfrm>
            <a:off x="0" y="1312596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Clarification request  </a:t>
            </a:r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⟹  </a:t>
            </a:r>
            <a:r>
              <a:rPr lang="en-US" sz="2800" b="1" dirty="0"/>
              <a:t>user provides more info</a:t>
            </a:r>
          </a:p>
        </p:txBody>
      </p:sp>
      <p:sp>
        <p:nvSpPr>
          <p:cNvPr id="27" name="TextBox 1">
            <a:extLst>
              <a:ext uri="{FF2B5EF4-FFF2-40B4-BE49-F238E27FC236}">
                <a16:creationId xmlns:a16="http://schemas.microsoft.com/office/drawing/2014/main" id="{DBAA9ED8-0071-D8B6-A6A6-C6CEE0F6080B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1. </a:t>
            </a:r>
            <a:r>
              <a:rPr lang="en-US" sz="2400" b="1" noProof="0" dirty="0">
                <a:solidFill>
                  <a:schemeClr val="bg1"/>
                </a:solidFill>
              </a:rPr>
              <a:t>Introduction - Method</a:t>
            </a:r>
          </a:p>
        </p:txBody>
      </p:sp>
      <p:sp>
        <p:nvSpPr>
          <p:cNvPr id="64" name="Rectangle 6">
            <a:extLst>
              <a:ext uri="{FF2B5EF4-FFF2-40B4-BE49-F238E27FC236}">
                <a16:creationId xmlns:a16="http://schemas.microsoft.com/office/drawing/2014/main" id="{2160EA7C-A903-EAE0-440C-4881B3F5CDDF}"/>
              </a:ext>
            </a:extLst>
          </p:cNvPr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A0FACD59-73A3-D265-CA07-2678BB283A05}"/>
              </a:ext>
            </a:extLst>
          </p:cNvPr>
          <p:cNvSpPr txBox="1"/>
          <p:nvPr/>
        </p:nvSpPr>
        <p:spPr>
          <a:xfrm>
            <a:off x="138222" y="131909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2</a:t>
            </a:r>
            <a:r>
              <a:rPr lang="en-US" sz="2400" noProof="0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Approach</a:t>
            </a:r>
            <a:r>
              <a:rPr lang="en-US" sz="2400" b="1" noProof="0" dirty="0">
                <a:solidFill>
                  <a:schemeClr val="bg1"/>
                </a:solidFill>
              </a:rPr>
              <a:t> - Confidence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BA10978-1248-C71B-E332-5EFB1B9D5600}"/>
              </a:ext>
            </a:extLst>
          </p:cNvPr>
          <p:cNvSpPr txBox="1"/>
          <p:nvPr/>
        </p:nvSpPr>
        <p:spPr>
          <a:xfrm>
            <a:off x="5572294" y="3247769"/>
            <a:ext cx="1016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USER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9BCAC7F-BD76-8838-339A-35EB2AE756CC}"/>
              </a:ext>
            </a:extLst>
          </p:cNvPr>
          <p:cNvSpPr txBox="1"/>
          <p:nvPr/>
        </p:nvSpPr>
        <p:spPr>
          <a:xfrm>
            <a:off x="7413214" y="5364172"/>
            <a:ext cx="1616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SLM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7E14DBA-BA70-D49F-5B84-5B3DCEBA3D9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93754" y="4331538"/>
            <a:ext cx="962807" cy="962807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576FC26B-E652-FF72-C444-C782206A242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5473343" y="2085278"/>
            <a:ext cx="1268314" cy="1268314"/>
          </a:xfrm>
          <a:prstGeom prst="rect">
            <a:avLst/>
          </a:prstGeom>
        </p:spPr>
      </p:pic>
      <p:pic>
        <p:nvPicPr>
          <p:cNvPr id="15" name="Elemento grafico 14" descr="Badge Punto interrogativo con riempimento a tinta unita">
            <a:extLst>
              <a:ext uri="{FF2B5EF4-FFF2-40B4-BE49-F238E27FC236}">
                <a16:creationId xmlns:a16="http://schemas.microsoft.com/office/drawing/2014/main" id="{F8A42EBD-CF0C-8D36-B263-2EB3B1FF05D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51424" y="2412111"/>
            <a:ext cx="914400" cy="914400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C937C98-1386-02B7-58B4-F11BA80F076C}"/>
              </a:ext>
            </a:extLst>
          </p:cNvPr>
          <p:cNvSpPr txBox="1"/>
          <p:nvPr/>
        </p:nvSpPr>
        <p:spPr>
          <a:xfrm>
            <a:off x="9448424" y="3247769"/>
            <a:ext cx="192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CLARIFICATION</a:t>
            </a:r>
            <a:br>
              <a:rPr lang="en-GB" b="1" dirty="0"/>
            </a:br>
            <a:r>
              <a:rPr lang="en-GB" b="1" dirty="0"/>
              <a:t>REQUEST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963990A1-75DE-7795-AB21-BFED0C9AA945}"/>
              </a:ext>
            </a:extLst>
          </p:cNvPr>
          <p:cNvCxnSpPr>
            <a:cxnSpLocks/>
          </p:cNvCxnSpPr>
          <p:nvPr/>
        </p:nvCxnSpPr>
        <p:spPr>
          <a:xfrm>
            <a:off x="6741657" y="3511277"/>
            <a:ext cx="1052097" cy="8180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FA6ED22A-9FC1-B6F2-7914-96C8C5BCEAB0}"/>
              </a:ext>
            </a:extLst>
          </p:cNvPr>
          <p:cNvCxnSpPr>
            <a:cxnSpLocks/>
          </p:cNvCxnSpPr>
          <p:nvPr/>
        </p:nvCxnSpPr>
        <p:spPr>
          <a:xfrm flipV="1">
            <a:off x="8700968" y="3670148"/>
            <a:ext cx="836414" cy="7742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06195997-89F2-F564-3E9D-B1AFEB93E4CD}"/>
              </a:ext>
            </a:extLst>
          </p:cNvPr>
          <p:cNvCxnSpPr>
            <a:cxnSpLocks/>
          </p:cNvCxnSpPr>
          <p:nvPr/>
        </p:nvCxnSpPr>
        <p:spPr>
          <a:xfrm flipH="1" flipV="1">
            <a:off x="6771283" y="2828855"/>
            <a:ext cx="2978122" cy="19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1B9CD6D4-FBA1-73A2-1716-EF50801F2911}"/>
              </a:ext>
            </a:extLst>
          </p:cNvPr>
          <p:cNvSpPr txBox="1"/>
          <p:nvPr/>
        </p:nvSpPr>
        <p:spPr>
          <a:xfrm>
            <a:off x="457200" y="2412111"/>
            <a:ext cx="50356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User clarification either confirms the response or corrects it</a:t>
            </a:r>
          </a:p>
          <a:p>
            <a:endParaRPr lang="en-US" sz="2400" dirty="0"/>
          </a:p>
          <a:p>
            <a:r>
              <a:rPr lang="en-US" sz="2400" dirty="0"/>
              <a:t>The model uses: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response evaluated as unsure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Info that led to its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Clarification sent from user</a:t>
            </a:r>
          </a:p>
        </p:txBody>
      </p:sp>
    </p:spTree>
    <p:extLst>
      <p:ext uri="{BB962C8B-B14F-4D97-AF65-F5344CB8AC3E}">
        <p14:creationId xmlns:p14="http://schemas.microsoft.com/office/powerpoint/2010/main" val="2954953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D3AF9-8E30-B43D-5B56-3FB67848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3E819A-5EE5-435D-4B72-9228F4554A5E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5A13D5-6873-8A38-188F-B23519962E4C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01B50EB-09C8-73FB-45D6-226115D54C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306" y="44188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AEECB0-0E4B-8067-8EE2-1EB6B4643175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8/22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E2B645-B31E-00C2-E40E-7AE6395A7697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2B9458-1336-B353-5F57-A69969D1E404}"/>
              </a:ext>
            </a:extLst>
          </p:cNvPr>
          <p:cNvSpPr txBox="1"/>
          <p:nvPr/>
        </p:nvSpPr>
        <p:spPr>
          <a:xfrm>
            <a:off x="6847367" y="1646275"/>
            <a:ext cx="492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bg1"/>
                </a:solidFill>
              </a:rPr>
              <a:t>AUV</a:t>
            </a:r>
            <a:r>
              <a:rPr lang="en-US" sz="2000" noProof="0" dirty="0">
                <a:solidFill>
                  <a:schemeClr val="bg1"/>
                </a:solidFill>
              </a:rPr>
              <a:t>: </a:t>
            </a:r>
            <a:r>
              <a:rPr lang="en-US" sz="2000" b="1" noProof="0" dirty="0">
                <a:solidFill>
                  <a:schemeClr val="bg1"/>
                </a:solidFill>
              </a:rPr>
              <a:t>A</a:t>
            </a:r>
            <a:r>
              <a:rPr lang="en-US" sz="2000" noProof="0" dirty="0">
                <a:solidFill>
                  <a:schemeClr val="bg1"/>
                </a:solidFill>
              </a:rPr>
              <a:t>utonomous </a:t>
            </a:r>
            <a:r>
              <a:rPr lang="en-US" sz="2000" b="1" noProof="0" dirty="0">
                <a:solidFill>
                  <a:schemeClr val="bg1"/>
                </a:solidFill>
              </a:rPr>
              <a:t>U</a:t>
            </a:r>
            <a:r>
              <a:rPr lang="en-US" sz="2000" noProof="0" dirty="0">
                <a:solidFill>
                  <a:schemeClr val="bg1"/>
                </a:solidFill>
              </a:rPr>
              <a:t>nderwater </a:t>
            </a:r>
            <a:r>
              <a:rPr lang="en-US" sz="2000" b="1" noProof="0" dirty="0">
                <a:solidFill>
                  <a:schemeClr val="bg1"/>
                </a:solidFill>
              </a:rPr>
              <a:t>V</a:t>
            </a:r>
            <a:r>
              <a:rPr lang="en-US" sz="2000" noProof="0" dirty="0">
                <a:solidFill>
                  <a:schemeClr val="bg1"/>
                </a:solidFill>
              </a:rPr>
              <a:t>ehicle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4748061-E4CE-7EBF-8C37-279EA860A74D}"/>
              </a:ext>
            </a:extLst>
          </p:cNvPr>
          <p:cNvCxnSpPr>
            <a:cxnSpLocks/>
          </p:cNvCxnSpPr>
          <p:nvPr/>
        </p:nvCxnSpPr>
        <p:spPr>
          <a:xfrm flipH="1">
            <a:off x="7049386" y="2046385"/>
            <a:ext cx="510363" cy="6542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A848C6C-1ECF-99BB-F0D1-5110D7E896C4}"/>
              </a:ext>
            </a:extLst>
          </p:cNvPr>
          <p:cNvSpPr txBox="1"/>
          <p:nvPr/>
        </p:nvSpPr>
        <p:spPr>
          <a:xfrm>
            <a:off x="8780722" y="4611561"/>
            <a:ext cx="258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Posidonia Oceanica</a:t>
            </a:r>
          </a:p>
        </p:txBody>
      </p:sp>
      <p:sp>
        <p:nvSpPr>
          <p:cNvPr id="8" name="AutoShape 2" descr="Language SVG Vector Icon">
            <a:extLst>
              <a:ext uri="{FF2B5EF4-FFF2-40B4-BE49-F238E27FC236}">
                <a16:creationId xmlns:a16="http://schemas.microsoft.com/office/drawing/2014/main" id="{F069050B-3881-13D3-2D86-66CA836942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9549" y="274737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2F23735D-F5E5-A81F-406E-392CB027CF14}"/>
              </a:ext>
            </a:extLst>
          </p:cNvPr>
          <p:cNvSpPr txBox="1"/>
          <p:nvPr/>
        </p:nvSpPr>
        <p:spPr>
          <a:xfrm>
            <a:off x="137313" y="131909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2</a:t>
            </a:r>
            <a:r>
              <a:rPr lang="en-US" sz="2400" noProof="0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Approach</a:t>
            </a:r>
            <a:r>
              <a:rPr lang="en-US" sz="2400" b="1" noProof="0" dirty="0">
                <a:solidFill>
                  <a:schemeClr val="bg1"/>
                </a:solidFill>
              </a:rPr>
              <a:t> - Confidence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1DD030C2-1D94-1649-6A5A-37802791CB0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44479" y="757747"/>
            <a:ext cx="5440566" cy="5440566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C69C545-76D8-7A59-4F27-EB382B239570}"/>
              </a:ext>
            </a:extLst>
          </p:cNvPr>
          <p:cNvSpPr txBox="1"/>
          <p:nvPr/>
        </p:nvSpPr>
        <p:spPr>
          <a:xfrm>
            <a:off x="6404359" y="4320503"/>
            <a:ext cx="88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OC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83698EF-8BBB-E85C-F0FF-F19E2E572465}"/>
              </a:ext>
            </a:extLst>
          </p:cNvPr>
          <p:cNvSpPr txBox="1"/>
          <p:nvPr/>
        </p:nvSpPr>
        <p:spPr>
          <a:xfrm>
            <a:off x="10381143" y="3224949"/>
            <a:ext cx="886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0000"/>
                </a:solidFill>
              </a:rPr>
              <a:t>SRC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418D96FD-47D8-2CD9-90DB-3A572E74EC6D}"/>
                  </a:ext>
                </a:extLst>
              </p:cNvPr>
              <p:cNvSpPr txBox="1"/>
              <p:nvPr/>
            </p:nvSpPr>
            <p:spPr>
              <a:xfrm>
                <a:off x="511629" y="1132114"/>
                <a:ext cx="5073155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The </a:t>
                </a:r>
                <a:r>
                  <a:rPr lang="en-US" sz="2000" b="1" dirty="0"/>
                  <a:t>confidence score (CS) </a:t>
                </a:r>
                <a:r>
                  <a:rPr lang="en-US" sz="2000" dirty="0"/>
                  <a:t>is an evaluation of the response correctness made using the model itself.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It is a combination of: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Observed Consistency (OC)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Self-Reflection Certainty (SRC)</a:t>
                </a:r>
              </a:p>
              <a:p>
                <a:endParaRPr lang="en-US" sz="2400" dirty="0"/>
              </a:p>
              <a:p>
                <a:r>
                  <a:rPr lang="en-US" sz="2000" dirty="0"/>
                  <a:t>Empirical evaluation of average scores w.r.t to model performance led to assign a bigger weight to the former 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⟹ </a:t>
                </a:r>
                <a:r>
                  <a:rPr lang="en-US" sz="2000" dirty="0"/>
                  <a:t>High </a:t>
                </a:r>
                <a14:m>
                  <m:oMath xmlns:m="http://schemas.openxmlformats.org/officeDocument/2006/math">
                    <m:r>
                      <a:rPr lang="it-IT" sz="20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418D96FD-47D8-2CD9-90DB-3A572E74E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29" y="1132114"/>
                <a:ext cx="5073155" cy="4524315"/>
              </a:xfrm>
              <a:prstGeom prst="rect">
                <a:avLst/>
              </a:prstGeom>
              <a:blipFill>
                <a:blip r:embed="rId5"/>
                <a:stretch>
                  <a:fillRect l="-1322" t="-809" r="-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F569279E-A58C-2C1C-5B82-64F137216E40}"/>
                  </a:ext>
                </a:extLst>
              </p:cNvPr>
              <p:cNvSpPr txBox="1"/>
              <p:nvPr/>
            </p:nvSpPr>
            <p:spPr>
              <a:xfrm>
                <a:off x="6328185" y="5436453"/>
                <a:ext cx="50731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𝐂𝐒</m:t>
                      </m:r>
                      <m:r>
                        <a:rPr lang="it-IT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𝛃</m:t>
                      </m:r>
                      <m:d>
                        <m:dPr>
                          <m:ctrlPr>
                            <a:rPr lang="it-IT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8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𝐎𝐂</m:t>
                          </m:r>
                        </m:e>
                      </m:d>
                      <m:r>
                        <a:rPr lang="it-IT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it-IT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it-IT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𝛃</m:t>
                      </m:r>
                      <m:r>
                        <a:rPr lang="it-IT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it-IT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𝐒𝐑𝐂</m:t>
                      </m:r>
                      <m:r>
                        <a:rPr lang="it-IT" sz="28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F569279E-A58C-2C1C-5B82-64F137216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185" y="5436453"/>
                <a:ext cx="507315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37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EA9C-ACE1-8649-9102-34E13F0CB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E86062-DFF2-C6C4-7831-6E59E2EF83CD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A37C72-9918-F0EE-9461-66FC02B4948E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72A0103-CFA4-8E28-4AD8-BE1E3BEE2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ACCEBA-4344-5FD8-867F-B7DA7ED15EC9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9/22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0F2A30-EC11-4916-7699-B5A3CCE3336D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FE1F82-978A-AC34-6DD4-4797A22F451D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1. </a:t>
            </a:r>
            <a:r>
              <a:rPr lang="en-US" sz="2400" b="1" noProof="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E0FE9B79-DC76-140F-4E9E-92DEA2FC43C8}"/>
              </a:ext>
            </a:extLst>
          </p:cNvPr>
          <p:cNvSpPr/>
          <p:nvPr/>
        </p:nvSpPr>
        <p:spPr>
          <a:xfrm>
            <a:off x="-909" y="0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1">
            <a:extLst>
              <a:ext uri="{FF2B5EF4-FFF2-40B4-BE49-F238E27FC236}">
                <a16:creationId xmlns:a16="http://schemas.microsoft.com/office/drawing/2014/main" id="{DD6C0DC6-9DC7-AC39-B4C5-280B22A7C238}"/>
              </a:ext>
            </a:extLst>
          </p:cNvPr>
          <p:cNvSpPr txBox="1"/>
          <p:nvPr/>
        </p:nvSpPr>
        <p:spPr>
          <a:xfrm>
            <a:off x="137313" y="131909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2</a:t>
            </a:r>
            <a:r>
              <a:rPr lang="en-US" sz="2400" noProof="0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Approach</a:t>
            </a:r>
            <a:r>
              <a:rPr lang="en-US" sz="2400" b="1" noProof="0" dirty="0">
                <a:solidFill>
                  <a:schemeClr val="bg1"/>
                </a:solidFill>
              </a:rPr>
              <a:t> - Confidence</a:t>
            </a:r>
          </a:p>
        </p:txBody>
      </p:sp>
      <p:pic>
        <p:nvPicPr>
          <p:cNvPr id="52" name="Immagine 51">
            <a:extLst>
              <a:ext uri="{FF2B5EF4-FFF2-40B4-BE49-F238E27FC236}">
                <a16:creationId xmlns:a16="http://schemas.microsoft.com/office/drawing/2014/main" id="{9210C8C2-07DA-47F2-E6D5-47C92D3E9E8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70496" y="1085450"/>
            <a:ext cx="721274" cy="721274"/>
          </a:xfrm>
          <a:prstGeom prst="rect">
            <a:avLst/>
          </a:prstGeom>
        </p:spPr>
      </p:pic>
      <p:pic>
        <p:nvPicPr>
          <p:cNvPr id="53" name="Elemento grafico 52" descr="Termometro con riempimento a tinta unita">
            <a:extLst>
              <a:ext uri="{FF2B5EF4-FFF2-40B4-BE49-F238E27FC236}">
                <a16:creationId xmlns:a16="http://schemas.microsoft.com/office/drawing/2014/main" id="{A8D6B07B-E39E-F64B-8EC1-875AC710AF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03110" y="859231"/>
            <a:ext cx="440119" cy="440119"/>
          </a:xfrm>
          <a:prstGeom prst="rect">
            <a:avLst/>
          </a:prstGeom>
        </p:spPr>
      </p:pic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8A01B15B-39D0-CB8E-F0E4-E7EA8217DA54}"/>
              </a:ext>
            </a:extLst>
          </p:cNvPr>
          <p:cNvSpPr txBox="1"/>
          <p:nvPr/>
        </p:nvSpPr>
        <p:spPr>
          <a:xfrm>
            <a:off x="4515847" y="1589807"/>
            <a:ext cx="1426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Original </a:t>
            </a:r>
          </a:p>
          <a:p>
            <a:pPr algn="ctr"/>
            <a:r>
              <a:rPr lang="en-US" sz="1200" dirty="0"/>
              <a:t>prompt</a:t>
            </a:r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8F7ABC36-247A-511F-799E-5A9CE15C2CEB}"/>
              </a:ext>
            </a:extLst>
          </p:cNvPr>
          <p:cNvCxnSpPr>
            <a:cxnSpLocks/>
          </p:cNvCxnSpPr>
          <p:nvPr/>
        </p:nvCxnSpPr>
        <p:spPr>
          <a:xfrm>
            <a:off x="5657967" y="1337451"/>
            <a:ext cx="103028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Immagine 67">
            <a:extLst>
              <a:ext uri="{FF2B5EF4-FFF2-40B4-BE49-F238E27FC236}">
                <a16:creationId xmlns:a16="http://schemas.microsoft.com/office/drawing/2014/main" id="{8B10E6BD-5306-8328-E903-68BA288A13C4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88562" y="1182621"/>
            <a:ext cx="420650" cy="420650"/>
          </a:xfrm>
          <a:prstGeom prst="rect">
            <a:avLst/>
          </a:prstGeom>
        </p:spPr>
      </p:pic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115810FD-17FF-2120-6856-640826A4C528}"/>
              </a:ext>
            </a:extLst>
          </p:cNvPr>
          <p:cNvSpPr txBox="1"/>
          <p:nvPr/>
        </p:nvSpPr>
        <p:spPr>
          <a:xfrm>
            <a:off x="3599330" y="1637614"/>
            <a:ext cx="1426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Original </a:t>
            </a:r>
          </a:p>
          <a:p>
            <a:pPr algn="ctr"/>
            <a:r>
              <a:rPr lang="en-US" sz="1200" dirty="0"/>
              <a:t>Response</a:t>
            </a:r>
          </a:p>
        </p:txBody>
      </p:sp>
      <p:cxnSp>
        <p:nvCxnSpPr>
          <p:cNvPr id="78" name="Connettore 2 77">
            <a:extLst>
              <a:ext uri="{FF2B5EF4-FFF2-40B4-BE49-F238E27FC236}">
                <a16:creationId xmlns:a16="http://schemas.microsoft.com/office/drawing/2014/main" id="{E9A8EA4E-1E6F-ED98-E7B5-8AD0ABA0C0D6}"/>
              </a:ext>
            </a:extLst>
          </p:cNvPr>
          <p:cNvCxnSpPr>
            <a:cxnSpLocks/>
          </p:cNvCxnSpPr>
          <p:nvPr/>
        </p:nvCxnSpPr>
        <p:spPr>
          <a:xfrm>
            <a:off x="7751065" y="2051472"/>
            <a:ext cx="278332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ttore 2 80">
            <a:extLst>
              <a:ext uri="{FF2B5EF4-FFF2-40B4-BE49-F238E27FC236}">
                <a16:creationId xmlns:a16="http://schemas.microsoft.com/office/drawing/2014/main" id="{8EA29829-33A9-626C-62DD-0C9E017B2F9E}"/>
              </a:ext>
            </a:extLst>
          </p:cNvPr>
          <p:cNvCxnSpPr>
            <a:cxnSpLocks/>
          </p:cNvCxnSpPr>
          <p:nvPr/>
        </p:nvCxnSpPr>
        <p:spPr>
          <a:xfrm>
            <a:off x="7194616" y="2051472"/>
            <a:ext cx="0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ttore 2 82">
            <a:extLst>
              <a:ext uri="{FF2B5EF4-FFF2-40B4-BE49-F238E27FC236}">
                <a16:creationId xmlns:a16="http://schemas.microsoft.com/office/drawing/2014/main" id="{EFF14219-3FE7-C394-C007-1B0DAE9608A0}"/>
              </a:ext>
            </a:extLst>
          </p:cNvPr>
          <p:cNvCxnSpPr>
            <a:cxnSpLocks/>
          </p:cNvCxnSpPr>
          <p:nvPr/>
        </p:nvCxnSpPr>
        <p:spPr>
          <a:xfrm flipH="1">
            <a:off x="6383433" y="2051472"/>
            <a:ext cx="304817" cy="36001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FF93CC8A-E3D4-974B-01A1-9BB092DA73CB}"/>
              </a:ext>
            </a:extLst>
          </p:cNvPr>
          <p:cNvCxnSpPr>
            <a:cxnSpLocks/>
          </p:cNvCxnSpPr>
          <p:nvPr/>
        </p:nvCxnSpPr>
        <p:spPr>
          <a:xfrm>
            <a:off x="7194616" y="3422628"/>
            <a:ext cx="0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ttore 2 85">
            <a:extLst>
              <a:ext uri="{FF2B5EF4-FFF2-40B4-BE49-F238E27FC236}">
                <a16:creationId xmlns:a16="http://schemas.microsoft.com/office/drawing/2014/main" id="{1F712935-AD16-7104-4916-FE39A1341D3B}"/>
              </a:ext>
            </a:extLst>
          </p:cNvPr>
          <p:cNvCxnSpPr>
            <a:cxnSpLocks/>
          </p:cNvCxnSpPr>
          <p:nvPr/>
        </p:nvCxnSpPr>
        <p:spPr>
          <a:xfrm>
            <a:off x="8240246" y="3400492"/>
            <a:ext cx="0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ttore 2 86">
            <a:extLst>
              <a:ext uri="{FF2B5EF4-FFF2-40B4-BE49-F238E27FC236}">
                <a16:creationId xmlns:a16="http://schemas.microsoft.com/office/drawing/2014/main" id="{CD146C51-09D1-9E82-D008-4A18391A12D5}"/>
              </a:ext>
            </a:extLst>
          </p:cNvPr>
          <p:cNvCxnSpPr>
            <a:cxnSpLocks/>
          </p:cNvCxnSpPr>
          <p:nvPr/>
        </p:nvCxnSpPr>
        <p:spPr>
          <a:xfrm>
            <a:off x="6173107" y="3422628"/>
            <a:ext cx="0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9" name="Elemento grafico 88">
            <a:extLst>
              <a:ext uri="{FF2B5EF4-FFF2-40B4-BE49-F238E27FC236}">
                <a16:creationId xmlns:a16="http://schemas.microsoft.com/office/drawing/2014/main" id="{94CADA68-ECED-E86C-4331-281EEC6F17B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98428" y="1141606"/>
            <a:ext cx="461665" cy="461665"/>
          </a:xfrm>
          <a:prstGeom prst="rect">
            <a:avLst/>
          </a:prstGeom>
        </p:spPr>
      </p:pic>
      <p:pic>
        <p:nvPicPr>
          <p:cNvPr id="90" name="Elemento grafico 89">
            <a:extLst>
              <a:ext uri="{FF2B5EF4-FFF2-40B4-BE49-F238E27FC236}">
                <a16:creationId xmlns:a16="http://schemas.microsoft.com/office/drawing/2014/main" id="{3E8F5FEB-6D31-7B34-F971-07379F6D72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15980" y="2607594"/>
            <a:ext cx="714253" cy="714253"/>
          </a:xfrm>
          <a:prstGeom prst="rect">
            <a:avLst/>
          </a:prstGeom>
        </p:spPr>
      </p:pic>
      <p:pic>
        <p:nvPicPr>
          <p:cNvPr id="91" name="Elemento grafico 90">
            <a:extLst>
              <a:ext uri="{FF2B5EF4-FFF2-40B4-BE49-F238E27FC236}">
                <a16:creationId xmlns:a16="http://schemas.microsoft.com/office/drawing/2014/main" id="{48756621-1768-3F2A-BE44-FBDD0531DB2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33979" y="2564666"/>
            <a:ext cx="721274" cy="721274"/>
          </a:xfrm>
          <a:prstGeom prst="rect">
            <a:avLst/>
          </a:prstGeom>
        </p:spPr>
      </p:pic>
      <p:pic>
        <p:nvPicPr>
          <p:cNvPr id="92" name="Elemento grafico 91">
            <a:extLst>
              <a:ext uri="{FF2B5EF4-FFF2-40B4-BE49-F238E27FC236}">
                <a16:creationId xmlns:a16="http://schemas.microsoft.com/office/drawing/2014/main" id="{F5B84B75-DB73-9563-FDF0-1CABCBE56C5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855657" y="2600927"/>
            <a:ext cx="720071" cy="720071"/>
          </a:xfrm>
          <a:prstGeom prst="rect">
            <a:avLst/>
          </a:prstGeom>
        </p:spPr>
      </p:pic>
      <p:pic>
        <p:nvPicPr>
          <p:cNvPr id="93" name="Immagine 92">
            <a:extLst>
              <a:ext uri="{FF2B5EF4-FFF2-40B4-BE49-F238E27FC236}">
                <a16:creationId xmlns:a16="http://schemas.microsoft.com/office/drawing/2014/main" id="{166DD222-0B4F-09EE-F861-689A6C69A98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72941" y="3914270"/>
            <a:ext cx="420650" cy="420650"/>
          </a:xfrm>
          <a:prstGeom prst="rect">
            <a:avLst/>
          </a:prstGeom>
        </p:spPr>
      </p:pic>
      <p:pic>
        <p:nvPicPr>
          <p:cNvPr id="94" name="Immagine 93">
            <a:extLst>
              <a:ext uri="{FF2B5EF4-FFF2-40B4-BE49-F238E27FC236}">
                <a16:creationId xmlns:a16="http://schemas.microsoft.com/office/drawing/2014/main" id="{E2EFB850-BE5C-F72C-A098-C70DEE3CD8D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13968" y="3893272"/>
            <a:ext cx="420650" cy="420650"/>
          </a:xfrm>
          <a:prstGeom prst="rect">
            <a:avLst/>
          </a:prstGeom>
        </p:spPr>
      </p:pic>
      <p:pic>
        <p:nvPicPr>
          <p:cNvPr id="95" name="Immagine 94">
            <a:extLst>
              <a:ext uri="{FF2B5EF4-FFF2-40B4-BE49-F238E27FC236}">
                <a16:creationId xmlns:a16="http://schemas.microsoft.com/office/drawing/2014/main" id="{B6FF5A35-9D61-C334-6AEE-C9F36F764A9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397" y="3880501"/>
            <a:ext cx="420650" cy="420650"/>
          </a:xfrm>
          <a:prstGeom prst="rect">
            <a:avLst/>
          </a:prstGeom>
        </p:spPr>
      </p:pic>
      <p:pic>
        <p:nvPicPr>
          <p:cNvPr id="96" name="Immagine 95">
            <a:extLst>
              <a:ext uri="{FF2B5EF4-FFF2-40B4-BE49-F238E27FC236}">
                <a16:creationId xmlns:a16="http://schemas.microsoft.com/office/drawing/2014/main" id="{675EF42F-5B2E-6A0A-5CDF-6E9914C7AC5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06369" y="5012474"/>
            <a:ext cx="650588" cy="650588"/>
          </a:xfrm>
          <a:prstGeom prst="rect">
            <a:avLst/>
          </a:prstGeom>
        </p:spPr>
      </p:pic>
      <p:cxnSp>
        <p:nvCxnSpPr>
          <p:cNvPr id="97" name="Connettore 2 96">
            <a:extLst>
              <a:ext uri="{FF2B5EF4-FFF2-40B4-BE49-F238E27FC236}">
                <a16:creationId xmlns:a16="http://schemas.microsoft.com/office/drawing/2014/main" id="{170615C8-3319-9BD4-C059-95C7822C6095}"/>
              </a:ext>
            </a:extLst>
          </p:cNvPr>
          <p:cNvCxnSpPr>
            <a:cxnSpLocks/>
          </p:cNvCxnSpPr>
          <p:nvPr/>
        </p:nvCxnSpPr>
        <p:spPr>
          <a:xfrm>
            <a:off x="6183266" y="4445885"/>
            <a:ext cx="0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ttore 2 97">
            <a:extLst>
              <a:ext uri="{FF2B5EF4-FFF2-40B4-BE49-F238E27FC236}">
                <a16:creationId xmlns:a16="http://schemas.microsoft.com/office/drawing/2014/main" id="{A6850F72-5EC4-AAFD-0329-80431D3CA2F2}"/>
              </a:ext>
            </a:extLst>
          </p:cNvPr>
          <p:cNvCxnSpPr>
            <a:cxnSpLocks/>
          </p:cNvCxnSpPr>
          <p:nvPr/>
        </p:nvCxnSpPr>
        <p:spPr>
          <a:xfrm>
            <a:off x="7241177" y="4467100"/>
            <a:ext cx="0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ttore 2 99">
            <a:extLst>
              <a:ext uri="{FF2B5EF4-FFF2-40B4-BE49-F238E27FC236}">
                <a16:creationId xmlns:a16="http://schemas.microsoft.com/office/drawing/2014/main" id="{91DE91AA-D9C8-4719-E6D8-04091DE0034A}"/>
              </a:ext>
            </a:extLst>
          </p:cNvPr>
          <p:cNvCxnSpPr>
            <a:cxnSpLocks/>
          </p:cNvCxnSpPr>
          <p:nvPr/>
        </p:nvCxnSpPr>
        <p:spPr>
          <a:xfrm>
            <a:off x="8236828" y="4445885"/>
            <a:ext cx="0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1" name="Immagine 100">
            <a:extLst>
              <a:ext uri="{FF2B5EF4-FFF2-40B4-BE49-F238E27FC236}">
                <a16:creationId xmlns:a16="http://schemas.microsoft.com/office/drawing/2014/main" id="{AB2C5CFA-3C10-B07A-ADBD-D603E381B22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62255" y="5024010"/>
            <a:ext cx="645577" cy="645577"/>
          </a:xfrm>
          <a:prstGeom prst="rect">
            <a:avLst/>
          </a:prstGeom>
        </p:spPr>
      </p:pic>
      <p:pic>
        <p:nvPicPr>
          <p:cNvPr id="103" name="Immagine 102">
            <a:extLst>
              <a:ext uri="{FF2B5EF4-FFF2-40B4-BE49-F238E27FC236}">
                <a16:creationId xmlns:a16="http://schemas.microsoft.com/office/drawing/2014/main" id="{A51EAE5F-E91E-6CBC-1799-D2CD7ED29E9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55909" y="5017772"/>
            <a:ext cx="619819" cy="619819"/>
          </a:xfrm>
          <a:prstGeom prst="rect">
            <a:avLst/>
          </a:prstGeom>
        </p:spPr>
      </p:pic>
      <p:cxnSp>
        <p:nvCxnSpPr>
          <p:cNvPr id="108" name="Connettore diritto 107">
            <a:extLst>
              <a:ext uri="{FF2B5EF4-FFF2-40B4-BE49-F238E27FC236}">
                <a16:creationId xmlns:a16="http://schemas.microsoft.com/office/drawing/2014/main" id="{E9029687-136E-F7B8-88A2-84BD3337E5DD}"/>
              </a:ext>
            </a:extLst>
          </p:cNvPr>
          <p:cNvCxnSpPr>
            <a:cxnSpLocks/>
          </p:cNvCxnSpPr>
          <p:nvPr/>
        </p:nvCxnSpPr>
        <p:spPr>
          <a:xfrm>
            <a:off x="8236827" y="5811407"/>
            <a:ext cx="0" cy="12296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ttore diritto 109">
            <a:extLst>
              <a:ext uri="{FF2B5EF4-FFF2-40B4-BE49-F238E27FC236}">
                <a16:creationId xmlns:a16="http://schemas.microsoft.com/office/drawing/2014/main" id="{67761C0E-9560-AA7F-D96C-722ED2AB7301}"/>
              </a:ext>
            </a:extLst>
          </p:cNvPr>
          <p:cNvCxnSpPr>
            <a:cxnSpLocks/>
          </p:cNvCxnSpPr>
          <p:nvPr/>
        </p:nvCxnSpPr>
        <p:spPr>
          <a:xfrm flipH="1">
            <a:off x="7270312" y="5812566"/>
            <a:ext cx="1" cy="12180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ttore diritto 110">
            <a:extLst>
              <a:ext uri="{FF2B5EF4-FFF2-40B4-BE49-F238E27FC236}">
                <a16:creationId xmlns:a16="http://schemas.microsoft.com/office/drawing/2014/main" id="{D0DA85FE-2336-3F5A-6B86-F28CC25EFEB1}"/>
              </a:ext>
            </a:extLst>
          </p:cNvPr>
          <p:cNvCxnSpPr>
            <a:cxnSpLocks/>
          </p:cNvCxnSpPr>
          <p:nvPr/>
        </p:nvCxnSpPr>
        <p:spPr>
          <a:xfrm>
            <a:off x="6198759" y="5798183"/>
            <a:ext cx="0" cy="15879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2 119">
            <a:extLst>
              <a:ext uri="{FF2B5EF4-FFF2-40B4-BE49-F238E27FC236}">
                <a16:creationId xmlns:a16="http://schemas.microsoft.com/office/drawing/2014/main" id="{19902D87-6853-7AB9-7928-A17E9CC88276}"/>
              </a:ext>
            </a:extLst>
          </p:cNvPr>
          <p:cNvCxnSpPr>
            <a:cxnSpLocks/>
          </p:cNvCxnSpPr>
          <p:nvPr/>
        </p:nvCxnSpPr>
        <p:spPr>
          <a:xfrm>
            <a:off x="4312344" y="2097451"/>
            <a:ext cx="44250" cy="22768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ttore 2 123">
            <a:extLst>
              <a:ext uri="{FF2B5EF4-FFF2-40B4-BE49-F238E27FC236}">
                <a16:creationId xmlns:a16="http://schemas.microsoft.com/office/drawing/2014/main" id="{3C303A8D-B372-4425-7AA4-21FE36E513A9}"/>
              </a:ext>
            </a:extLst>
          </p:cNvPr>
          <p:cNvCxnSpPr>
            <a:cxnSpLocks/>
          </p:cNvCxnSpPr>
          <p:nvPr/>
        </p:nvCxnSpPr>
        <p:spPr>
          <a:xfrm flipV="1">
            <a:off x="4412691" y="5060281"/>
            <a:ext cx="0" cy="8966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5" name="Elemento grafico 134" descr="Ricerca con riempimento a tinta unita">
            <a:extLst>
              <a:ext uri="{FF2B5EF4-FFF2-40B4-BE49-F238E27FC236}">
                <a16:creationId xmlns:a16="http://schemas.microsoft.com/office/drawing/2014/main" id="{4EDA2875-59E5-65D1-3581-49DCBA21F9A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86516" y="4444375"/>
            <a:ext cx="626570" cy="626570"/>
          </a:xfrm>
          <a:prstGeom prst="rect">
            <a:avLst/>
          </a:prstGeom>
        </p:spPr>
      </p:pic>
      <p:cxnSp>
        <p:nvCxnSpPr>
          <p:cNvPr id="139" name="Connettore 2 138">
            <a:extLst>
              <a:ext uri="{FF2B5EF4-FFF2-40B4-BE49-F238E27FC236}">
                <a16:creationId xmlns:a16="http://schemas.microsoft.com/office/drawing/2014/main" id="{2CD7B8E2-0F91-970E-FB89-7169F48B50B5}"/>
              </a:ext>
            </a:extLst>
          </p:cNvPr>
          <p:cNvCxnSpPr>
            <a:cxnSpLocks/>
          </p:cNvCxnSpPr>
          <p:nvPr/>
        </p:nvCxnSpPr>
        <p:spPr>
          <a:xfrm flipH="1" flipV="1">
            <a:off x="3747646" y="3880501"/>
            <a:ext cx="321646" cy="4938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1" name="Elemento grafico 140" descr="Contachilometri in basso con riempimento a tinta unita">
            <a:extLst>
              <a:ext uri="{FF2B5EF4-FFF2-40B4-BE49-F238E27FC236}">
                <a16:creationId xmlns:a16="http://schemas.microsoft.com/office/drawing/2014/main" id="{37A2B0ED-3CEA-3703-B24D-5566F66FDA4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89127" y="981226"/>
            <a:ext cx="1073176" cy="1073176"/>
          </a:xfrm>
          <a:prstGeom prst="rect">
            <a:avLst/>
          </a:prstGeom>
        </p:spPr>
      </p:pic>
      <p:sp>
        <p:nvSpPr>
          <p:cNvPr id="142" name="CasellaDiTesto 141">
            <a:extLst>
              <a:ext uri="{FF2B5EF4-FFF2-40B4-BE49-F238E27FC236}">
                <a16:creationId xmlns:a16="http://schemas.microsoft.com/office/drawing/2014/main" id="{ECAD595F-6CA2-FE9B-B1C6-815C73B74937}"/>
              </a:ext>
            </a:extLst>
          </p:cNvPr>
          <p:cNvSpPr txBox="1"/>
          <p:nvPr/>
        </p:nvSpPr>
        <p:spPr>
          <a:xfrm>
            <a:off x="675729" y="1908844"/>
            <a:ext cx="209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OC SCORE</a:t>
            </a:r>
          </a:p>
        </p:txBody>
      </p:sp>
      <p:cxnSp>
        <p:nvCxnSpPr>
          <p:cNvPr id="143" name="Connettore diritto 142">
            <a:extLst>
              <a:ext uri="{FF2B5EF4-FFF2-40B4-BE49-F238E27FC236}">
                <a16:creationId xmlns:a16="http://schemas.microsoft.com/office/drawing/2014/main" id="{9CCBB37B-E437-B19C-3BB6-759395722CB4}"/>
              </a:ext>
            </a:extLst>
          </p:cNvPr>
          <p:cNvCxnSpPr>
            <a:cxnSpLocks/>
          </p:cNvCxnSpPr>
          <p:nvPr/>
        </p:nvCxnSpPr>
        <p:spPr>
          <a:xfrm flipH="1" flipV="1">
            <a:off x="4379834" y="5934369"/>
            <a:ext cx="3856993" cy="541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EDC5C90-4FA3-7255-07B4-AF7F3E6706D9}"/>
                  </a:ext>
                </a:extLst>
              </p:cNvPr>
              <p:cNvSpPr txBox="1"/>
              <p:nvPr/>
            </p:nvSpPr>
            <p:spPr>
              <a:xfrm>
                <a:off x="8026503" y="1062214"/>
                <a:ext cx="3337816" cy="867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Command variants generation through model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𝑐𝑚𝑑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it-IT" sz="160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𝑐𝑚</m:t>
                          </m:r>
                          <m:sSub>
                            <m:sSubPr>
                              <m:ctrlPr>
                                <a:rPr lang="it-IT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5EDC5C90-4FA3-7255-07B4-AF7F3E670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503" y="1062214"/>
                <a:ext cx="3337816" cy="867417"/>
              </a:xfrm>
              <a:prstGeom prst="rect">
                <a:avLst/>
              </a:prstGeom>
              <a:blipFill>
                <a:blip r:embed="rId20"/>
                <a:stretch>
                  <a:fillRect l="-1097" t="-2098" b="-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C53A03B-363B-DD7C-79ED-0E660910B76E}"/>
                  </a:ext>
                </a:extLst>
              </p:cNvPr>
              <p:cNvSpPr txBox="1"/>
              <p:nvPr/>
            </p:nvSpPr>
            <p:spPr>
              <a:xfrm>
                <a:off x="8620645" y="2493538"/>
                <a:ext cx="3167743" cy="1150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 startAt="2"/>
                </a:pPr>
                <a:r>
                  <a:rPr lang="en-US" sz="1600" dirty="0"/>
                  <a:t>Replace original command in prompt with each variant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t-IT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600" i="1">
                          <a:latin typeface="Cambria Math" panose="02040503050406030204" pitchFamily="18" charset="0"/>
                        </a:rPr>
                        <m:t>𝑐𝑚</m:t>
                      </m:r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C53A03B-363B-DD7C-79ED-0E660910B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0645" y="2493538"/>
                <a:ext cx="3167743" cy="1150956"/>
              </a:xfrm>
              <a:prstGeom prst="rect">
                <a:avLst/>
              </a:prstGeom>
              <a:blipFill>
                <a:blip r:embed="rId21"/>
                <a:stretch>
                  <a:fillRect l="-962" t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B72BAD6-1C22-ADFF-461A-118C3D1DC56D}"/>
                  </a:ext>
                </a:extLst>
              </p:cNvPr>
              <p:cNvSpPr txBox="1"/>
              <p:nvPr/>
            </p:nvSpPr>
            <p:spPr>
              <a:xfrm>
                <a:off x="8773886" y="3914270"/>
                <a:ext cx="3014502" cy="8627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 startAt="3"/>
                </a:pPr>
                <a:r>
                  <a:rPr lang="en-US" sz="1600" dirty="0"/>
                  <a:t>Generate response for each variant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i="1">
                          <a:latin typeface="Cambria Math" panose="02040503050406030204" pitchFamily="18" charset="0"/>
                        </a:rPr>
                        <m:t>𝑆𝐿𝑀</m:t>
                      </m:r>
                      <m:d>
                        <m:d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it-IT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B72BAD6-1C22-ADFF-461A-118C3D1DC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886" y="3914270"/>
                <a:ext cx="3014502" cy="862737"/>
              </a:xfrm>
              <a:prstGeom prst="rect">
                <a:avLst/>
              </a:prstGeom>
              <a:blipFill>
                <a:blip r:embed="rId22"/>
                <a:stretch>
                  <a:fillRect l="-1010" t="-2113" r="-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4E97FFB7-3C1B-531C-D5D4-1D0959FE8382}"/>
                  </a:ext>
                </a:extLst>
              </p:cNvPr>
              <p:cNvSpPr txBox="1"/>
              <p:nvPr/>
            </p:nvSpPr>
            <p:spPr>
              <a:xfrm>
                <a:off x="137312" y="4343858"/>
                <a:ext cx="3688927" cy="1149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ctr">
                  <a:buFont typeface="+mj-lt"/>
                  <a:buAutoNum type="arabicPeriod" startAt="4"/>
                </a:pPr>
                <a:r>
                  <a:rPr lang="en-US" sz="1600" dirty="0"/>
                  <a:t>Response match with original</a:t>
                </a:r>
              </a:p>
              <a:p>
                <a:pPr lvl="1" algn="ctr"/>
                <a:r>
                  <a:rPr lang="it-IT" sz="1600" dirty="0"/>
                  <a:t>	            </a:t>
                </a:r>
                <a:r>
                  <a:rPr lang="it-IT" sz="1600" dirty="0" err="1"/>
                  <a:t>if</a:t>
                </a:r>
                <a:r>
                  <a:rPr lang="it-IT" sz="160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1600" i="1">
                        <a:latin typeface="Cambria Math" panose="02040503050406030204" pitchFamily="18" charset="0"/>
                      </a:rPr>
                      <m:t> ≡ </m:t>
                    </m:r>
                    <m:r>
                      <a:rPr lang="pt-BR" sz="16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pt-BR" sz="1600" i="1">
                        <a:latin typeface="Cambria Math" panose="02040503050406030204" pitchFamily="18" charset="0"/>
                      </a:rPr>
                      <m:t> ⇒ </m:t>
                    </m:r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1600" i="1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endParaRPr lang="en-US" sz="1600" dirty="0"/>
              </a:p>
              <a:p>
                <a:pPr lvl="1" algn="ctr"/>
                <a:r>
                  <a:rPr lang="en-US" sz="1600" dirty="0"/>
                  <a:t>	            else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1600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it-IT" sz="16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4E97FFB7-3C1B-531C-D5D4-1D0959FE8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12" y="4343858"/>
                <a:ext cx="3688927" cy="1149545"/>
              </a:xfrm>
              <a:prstGeom prst="rect">
                <a:avLst/>
              </a:prstGeom>
              <a:blipFill>
                <a:blip r:embed="rId23"/>
                <a:stretch>
                  <a:fillRect t="-1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56959F4B-32E3-0C1E-1232-6A58FC67E690}"/>
              </a:ext>
            </a:extLst>
          </p:cNvPr>
          <p:cNvSpPr/>
          <p:nvPr/>
        </p:nvSpPr>
        <p:spPr>
          <a:xfrm>
            <a:off x="7955909" y="968829"/>
            <a:ext cx="3408410" cy="11286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734983A8-2039-988B-2A99-05B4AA3ECB53}"/>
              </a:ext>
            </a:extLst>
          </p:cNvPr>
          <p:cNvSpPr/>
          <p:nvPr/>
        </p:nvSpPr>
        <p:spPr>
          <a:xfrm>
            <a:off x="8609753" y="2379419"/>
            <a:ext cx="3178635" cy="11286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D02FEA58-F5E4-D509-70FC-7A9F2CA10A64}"/>
              </a:ext>
            </a:extLst>
          </p:cNvPr>
          <p:cNvSpPr/>
          <p:nvPr/>
        </p:nvSpPr>
        <p:spPr>
          <a:xfrm>
            <a:off x="8618886" y="3790009"/>
            <a:ext cx="3178635" cy="11286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A4CE5616-20C6-0D97-B2A0-A8DB2EFE3349}"/>
              </a:ext>
            </a:extLst>
          </p:cNvPr>
          <p:cNvSpPr/>
          <p:nvPr/>
        </p:nvSpPr>
        <p:spPr>
          <a:xfrm>
            <a:off x="259557" y="4295438"/>
            <a:ext cx="3526565" cy="88269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C9E1FE58-9F60-018F-6BF6-67A45AB32434}"/>
                  </a:ext>
                </a:extLst>
              </p:cNvPr>
              <p:cNvSpPr txBox="1"/>
              <p:nvPr/>
            </p:nvSpPr>
            <p:spPr>
              <a:xfrm>
                <a:off x="324545" y="2477745"/>
                <a:ext cx="3638798" cy="1533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 startAt="5"/>
                </a:pPr>
                <a:r>
                  <a:rPr lang="en-US" sz="1600" dirty="0"/>
                  <a:t>Score = match percentage out all variants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𝑂𝐶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= (</m:t>
                      </m:r>
                      <m:nary>
                        <m:naryPr>
                          <m:chr m:val="∑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it-IT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it-IT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it-IT" sz="1600" i="1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) × 100 </m:t>
                      </m:r>
                    </m:oMath>
                  </m:oMathPara>
                </a14:m>
                <a:endParaRPr lang="en-US" sz="1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C9E1FE58-9F60-018F-6BF6-67A45AB32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545" y="2477745"/>
                <a:ext cx="3638798" cy="1533946"/>
              </a:xfrm>
              <a:prstGeom prst="rect">
                <a:avLst/>
              </a:prstGeom>
              <a:blipFill>
                <a:blip r:embed="rId24"/>
                <a:stretch>
                  <a:fillRect l="-838"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1E5132BA-A276-AD56-289F-D7CD2520BEF0}"/>
              </a:ext>
            </a:extLst>
          </p:cNvPr>
          <p:cNvSpPr/>
          <p:nvPr/>
        </p:nvSpPr>
        <p:spPr>
          <a:xfrm>
            <a:off x="205423" y="2389799"/>
            <a:ext cx="3726523" cy="143359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12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2CB73-1835-E16B-5D82-A296F0060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5A21B3-702F-4A3D-E00B-3548100C4635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CA9FBD-65FD-512A-53F4-CCE6ED124D50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17A92A8-83D6-7DCB-AFAE-5C8F13B43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DFE67C-B87A-8517-F588-120066536050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10/22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E2DA63-8903-F4CA-D8DF-ADBF6B5BDBC9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A45F49-C332-95A3-7798-F420C32577C8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1. </a:t>
            </a:r>
            <a:r>
              <a:rPr lang="en-US" sz="2400" b="1" noProof="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367459C0-696D-C708-7655-0BAAE85A1262}"/>
              </a:ext>
            </a:extLst>
          </p:cNvPr>
          <p:cNvSpPr/>
          <p:nvPr/>
        </p:nvSpPr>
        <p:spPr>
          <a:xfrm>
            <a:off x="-909" y="0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1">
            <a:extLst>
              <a:ext uri="{FF2B5EF4-FFF2-40B4-BE49-F238E27FC236}">
                <a16:creationId xmlns:a16="http://schemas.microsoft.com/office/drawing/2014/main" id="{F435C013-8A54-7009-B965-A1F5FCC3D85E}"/>
              </a:ext>
            </a:extLst>
          </p:cNvPr>
          <p:cNvSpPr txBox="1"/>
          <p:nvPr/>
        </p:nvSpPr>
        <p:spPr>
          <a:xfrm>
            <a:off x="137313" y="131909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2</a:t>
            </a:r>
            <a:r>
              <a:rPr lang="en-US" sz="2400" noProof="0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Approach</a:t>
            </a:r>
            <a:r>
              <a:rPr lang="en-US" sz="2400" b="1" noProof="0" dirty="0">
                <a:solidFill>
                  <a:schemeClr val="bg1"/>
                </a:solidFill>
              </a:rPr>
              <a:t> - Confidence</a:t>
            </a:r>
          </a:p>
        </p:txBody>
      </p:sp>
      <p:pic>
        <p:nvPicPr>
          <p:cNvPr id="52" name="Immagine 51">
            <a:extLst>
              <a:ext uri="{FF2B5EF4-FFF2-40B4-BE49-F238E27FC236}">
                <a16:creationId xmlns:a16="http://schemas.microsoft.com/office/drawing/2014/main" id="{F954B993-D45A-5AB5-78A1-134C4F4C13D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16324" y="1211375"/>
            <a:ext cx="640859" cy="640859"/>
          </a:xfrm>
          <a:prstGeom prst="rect">
            <a:avLst/>
          </a:prstGeom>
        </p:spPr>
      </p:pic>
      <p:pic>
        <p:nvPicPr>
          <p:cNvPr id="53" name="Elemento grafico 52" descr="Termometro con riempimento a tinta unita">
            <a:extLst>
              <a:ext uri="{FF2B5EF4-FFF2-40B4-BE49-F238E27FC236}">
                <a16:creationId xmlns:a16="http://schemas.microsoft.com/office/drawing/2014/main" id="{6EC5D3F2-C06C-6DE9-3506-39735550A3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5650" y="993088"/>
            <a:ext cx="420650" cy="420650"/>
          </a:xfrm>
          <a:prstGeom prst="rect">
            <a:avLst/>
          </a:prstGeom>
        </p:spPr>
      </p:pic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4F2445FA-8D67-6783-1CF8-F894FC2C9B6E}"/>
              </a:ext>
            </a:extLst>
          </p:cNvPr>
          <p:cNvSpPr txBox="1"/>
          <p:nvPr/>
        </p:nvSpPr>
        <p:spPr>
          <a:xfrm>
            <a:off x="3770757" y="1674057"/>
            <a:ext cx="1426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Original </a:t>
            </a:r>
          </a:p>
          <a:p>
            <a:pPr algn="ctr"/>
            <a:r>
              <a:rPr lang="en-US" sz="1200" dirty="0"/>
              <a:t>prompt</a:t>
            </a:r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0AAEED21-FB39-E60A-EB3C-0F5B31CA60D8}"/>
              </a:ext>
            </a:extLst>
          </p:cNvPr>
          <p:cNvCxnSpPr>
            <a:cxnSpLocks/>
          </p:cNvCxnSpPr>
          <p:nvPr/>
        </p:nvCxnSpPr>
        <p:spPr>
          <a:xfrm>
            <a:off x="4912877" y="1421701"/>
            <a:ext cx="103028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Immagine 67">
            <a:extLst>
              <a:ext uri="{FF2B5EF4-FFF2-40B4-BE49-F238E27FC236}">
                <a16:creationId xmlns:a16="http://schemas.microsoft.com/office/drawing/2014/main" id="{05E47F59-9B38-9970-159C-F63AFCB4C52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43472" y="1266871"/>
            <a:ext cx="420650" cy="420650"/>
          </a:xfrm>
          <a:prstGeom prst="rect">
            <a:avLst/>
          </a:prstGeom>
        </p:spPr>
      </p:pic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A21D111A-AEAE-7B07-1D10-4081B7286DC1}"/>
              </a:ext>
            </a:extLst>
          </p:cNvPr>
          <p:cNvSpPr txBox="1"/>
          <p:nvPr/>
        </p:nvSpPr>
        <p:spPr>
          <a:xfrm>
            <a:off x="2854240" y="1721864"/>
            <a:ext cx="14260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Original </a:t>
            </a:r>
          </a:p>
          <a:p>
            <a:pPr algn="ctr"/>
            <a:r>
              <a:rPr lang="en-US" sz="1200" dirty="0"/>
              <a:t>Response</a:t>
            </a:r>
          </a:p>
        </p:txBody>
      </p:sp>
      <p:cxnSp>
        <p:nvCxnSpPr>
          <p:cNvPr id="78" name="Connettore 2 77">
            <a:extLst>
              <a:ext uri="{FF2B5EF4-FFF2-40B4-BE49-F238E27FC236}">
                <a16:creationId xmlns:a16="http://schemas.microsoft.com/office/drawing/2014/main" id="{67B5CB74-B518-FC6A-496C-174C440BACB4}"/>
              </a:ext>
            </a:extLst>
          </p:cNvPr>
          <p:cNvCxnSpPr>
            <a:cxnSpLocks/>
          </p:cNvCxnSpPr>
          <p:nvPr/>
        </p:nvCxnSpPr>
        <p:spPr>
          <a:xfrm>
            <a:off x="7005975" y="2135722"/>
            <a:ext cx="278332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ttore 2 80">
            <a:extLst>
              <a:ext uri="{FF2B5EF4-FFF2-40B4-BE49-F238E27FC236}">
                <a16:creationId xmlns:a16="http://schemas.microsoft.com/office/drawing/2014/main" id="{CDFB30B3-AAEA-C018-A160-842FA404B5B2}"/>
              </a:ext>
            </a:extLst>
          </p:cNvPr>
          <p:cNvCxnSpPr>
            <a:cxnSpLocks/>
          </p:cNvCxnSpPr>
          <p:nvPr/>
        </p:nvCxnSpPr>
        <p:spPr>
          <a:xfrm>
            <a:off x="6449526" y="2135722"/>
            <a:ext cx="0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ttore 2 82">
            <a:extLst>
              <a:ext uri="{FF2B5EF4-FFF2-40B4-BE49-F238E27FC236}">
                <a16:creationId xmlns:a16="http://schemas.microsoft.com/office/drawing/2014/main" id="{87426CB0-81CF-199F-0D4E-D99AB105024D}"/>
              </a:ext>
            </a:extLst>
          </p:cNvPr>
          <p:cNvCxnSpPr>
            <a:cxnSpLocks/>
          </p:cNvCxnSpPr>
          <p:nvPr/>
        </p:nvCxnSpPr>
        <p:spPr>
          <a:xfrm flipH="1">
            <a:off x="5638343" y="2135722"/>
            <a:ext cx="304817" cy="360016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90C75B68-6038-A7ED-9AE9-20E518B5EDFC}"/>
              </a:ext>
            </a:extLst>
          </p:cNvPr>
          <p:cNvCxnSpPr>
            <a:cxnSpLocks/>
          </p:cNvCxnSpPr>
          <p:nvPr/>
        </p:nvCxnSpPr>
        <p:spPr>
          <a:xfrm>
            <a:off x="6449526" y="3506878"/>
            <a:ext cx="0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ttore 2 85">
            <a:extLst>
              <a:ext uri="{FF2B5EF4-FFF2-40B4-BE49-F238E27FC236}">
                <a16:creationId xmlns:a16="http://schemas.microsoft.com/office/drawing/2014/main" id="{524E1CF0-7884-42F2-5E60-7083807C5169}"/>
              </a:ext>
            </a:extLst>
          </p:cNvPr>
          <p:cNvCxnSpPr>
            <a:cxnSpLocks/>
          </p:cNvCxnSpPr>
          <p:nvPr/>
        </p:nvCxnSpPr>
        <p:spPr>
          <a:xfrm>
            <a:off x="7435437" y="3526951"/>
            <a:ext cx="0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ttore 2 86">
            <a:extLst>
              <a:ext uri="{FF2B5EF4-FFF2-40B4-BE49-F238E27FC236}">
                <a16:creationId xmlns:a16="http://schemas.microsoft.com/office/drawing/2014/main" id="{A468EF06-FC22-91EA-ED33-B97C703483B8}"/>
              </a:ext>
            </a:extLst>
          </p:cNvPr>
          <p:cNvCxnSpPr>
            <a:cxnSpLocks/>
          </p:cNvCxnSpPr>
          <p:nvPr/>
        </p:nvCxnSpPr>
        <p:spPr>
          <a:xfrm>
            <a:off x="5428017" y="3506878"/>
            <a:ext cx="0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9" name="Elemento grafico 88">
            <a:extLst>
              <a:ext uri="{FF2B5EF4-FFF2-40B4-BE49-F238E27FC236}">
                <a16:creationId xmlns:a16="http://schemas.microsoft.com/office/drawing/2014/main" id="{E9F27D45-E1BD-EE09-20CF-467BB748180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53338" y="1225856"/>
            <a:ext cx="461665" cy="461665"/>
          </a:xfrm>
          <a:prstGeom prst="rect">
            <a:avLst/>
          </a:prstGeom>
        </p:spPr>
      </p:pic>
      <p:pic>
        <p:nvPicPr>
          <p:cNvPr id="90" name="Elemento grafico 89">
            <a:extLst>
              <a:ext uri="{FF2B5EF4-FFF2-40B4-BE49-F238E27FC236}">
                <a16:creationId xmlns:a16="http://schemas.microsoft.com/office/drawing/2014/main" id="{7CE9EE9E-1B03-A46F-F234-64E16EEE17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09140" y="2723285"/>
            <a:ext cx="695895" cy="695895"/>
          </a:xfrm>
          <a:prstGeom prst="rect">
            <a:avLst/>
          </a:prstGeom>
        </p:spPr>
      </p:pic>
      <p:pic>
        <p:nvPicPr>
          <p:cNvPr id="91" name="Elemento grafico 90">
            <a:extLst>
              <a:ext uri="{FF2B5EF4-FFF2-40B4-BE49-F238E27FC236}">
                <a16:creationId xmlns:a16="http://schemas.microsoft.com/office/drawing/2014/main" id="{366B8396-EA73-C808-824D-DA0C29D9F1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34284" y="2740549"/>
            <a:ext cx="661366" cy="661366"/>
          </a:xfrm>
          <a:prstGeom prst="rect">
            <a:avLst/>
          </a:prstGeom>
        </p:spPr>
      </p:pic>
      <p:pic>
        <p:nvPicPr>
          <p:cNvPr id="92" name="Elemento grafico 91">
            <a:extLst>
              <a:ext uri="{FF2B5EF4-FFF2-40B4-BE49-F238E27FC236}">
                <a16:creationId xmlns:a16="http://schemas.microsoft.com/office/drawing/2014/main" id="{7FEB3344-B0F9-E9D8-7480-0130E270E6A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24899" y="2726986"/>
            <a:ext cx="661366" cy="661366"/>
          </a:xfrm>
          <a:prstGeom prst="rect">
            <a:avLst/>
          </a:prstGeom>
        </p:spPr>
      </p:pic>
      <p:pic>
        <p:nvPicPr>
          <p:cNvPr id="93" name="Immagine 92">
            <a:extLst>
              <a:ext uri="{FF2B5EF4-FFF2-40B4-BE49-F238E27FC236}">
                <a16:creationId xmlns:a16="http://schemas.microsoft.com/office/drawing/2014/main" id="{CAAC4F7E-918D-DD0B-5255-30D540CBD95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28375" y="5326185"/>
            <a:ext cx="420650" cy="420650"/>
          </a:xfrm>
          <a:prstGeom prst="rect">
            <a:avLst/>
          </a:prstGeom>
        </p:spPr>
      </p:pic>
      <p:pic>
        <p:nvPicPr>
          <p:cNvPr id="94" name="Immagine 93">
            <a:extLst>
              <a:ext uri="{FF2B5EF4-FFF2-40B4-BE49-F238E27FC236}">
                <a16:creationId xmlns:a16="http://schemas.microsoft.com/office/drawing/2014/main" id="{3BCECACA-946F-7527-D062-C092DCEADF1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69402" y="5305187"/>
            <a:ext cx="420650" cy="420650"/>
          </a:xfrm>
          <a:prstGeom prst="rect">
            <a:avLst/>
          </a:prstGeom>
        </p:spPr>
      </p:pic>
      <p:pic>
        <p:nvPicPr>
          <p:cNvPr id="95" name="Immagine 94">
            <a:extLst>
              <a:ext uri="{FF2B5EF4-FFF2-40B4-BE49-F238E27FC236}">
                <a16:creationId xmlns:a16="http://schemas.microsoft.com/office/drawing/2014/main" id="{E085BF95-1719-E127-1665-AAFF41A0291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284831" y="5292416"/>
            <a:ext cx="420650" cy="420650"/>
          </a:xfrm>
          <a:prstGeom prst="rect">
            <a:avLst/>
          </a:prstGeom>
        </p:spPr>
      </p:pic>
      <p:pic>
        <p:nvPicPr>
          <p:cNvPr id="141" name="Elemento grafico 140" descr="Contachilometri in basso con riempimento a tinta unita">
            <a:extLst>
              <a:ext uri="{FF2B5EF4-FFF2-40B4-BE49-F238E27FC236}">
                <a16:creationId xmlns:a16="http://schemas.microsoft.com/office/drawing/2014/main" id="{0A6DD699-0343-8DBF-55C4-3FF822160CD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906631" y="2183529"/>
            <a:ext cx="1073176" cy="1073176"/>
          </a:xfrm>
          <a:prstGeom prst="rect">
            <a:avLst/>
          </a:prstGeom>
        </p:spPr>
      </p:pic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3F8B7E8F-734D-3735-E6D6-588C766D5036}"/>
              </a:ext>
            </a:extLst>
          </p:cNvPr>
          <p:cNvCxnSpPr>
            <a:cxnSpLocks/>
          </p:cNvCxnSpPr>
          <p:nvPr/>
        </p:nvCxnSpPr>
        <p:spPr>
          <a:xfrm>
            <a:off x="6449526" y="4900852"/>
            <a:ext cx="0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20479ED0-C6DF-721C-976C-2D8F0D71AA1D}"/>
              </a:ext>
            </a:extLst>
          </p:cNvPr>
          <p:cNvCxnSpPr>
            <a:cxnSpLocks/>
          </p:cNvCxnSpPr>
          <p:nvPr/>
        </p:nvCxnSpPr>
        <p:spPr>
          <a:xfrm>
            <a:off x="7495156" y="4878716"/>
            <a:ext cx="0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3D292CDE-7766-46D6-EFBC-F90CBE041195}"/>
              </a:ext>
            </a:extLst>
          </p:cNvPr>
          <p:cNvCxnSpPr>
            <a:cxnSpLocks/>
          </p:cNvCxnSpPr>
          <p:nvPr/>
        </p:nvCxnSpPr>
        <p:spPr>
          <a:xfrm>
            <a:off x="5428017" y="4900852"/>
            <a:ext cx="0" cy="3600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87D99504-A113-AA8E-E89A-8FE125BC2A8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90752" y="4053858"/>
            <a:ext cx="695895" cy="695895"/>
          </a:xfrm>
          <a:prstGeom prst="rect">
            <a:avLst/>
          </a:prstGeom>
        </p:spPr>
      </p:pic>
      <p:pic>
        <p:nvPicPr>
          <p:cNvPr id="24" name="Elemento grafico 23">
            <a:extLst>
              <a:ext uri="{FF2B5EF4-FFF2-40B4-BE49-F238E27FC236}">
                <a16:creationId xmlns:a16="http://schemas.microsoft.com/office/drawing/2014/main" id="{A902F8B5-84CE-696D-AA4D-6FF59B85E6D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117019" y="4042148"/>
            <a:ext cx="695895" cy="695895"/>
          </a:xfrm>
          <a:prstGeom prst="rect">
            <a:avLst/>
          </a:prstGeom>
        </p:spPr>
      </p:pic>
      <p:pic>
        <p:nvPicPr>
          <p:cNvPr id="25" name="Elemento grafico 24">
            <a:extLst>
              <a:ext uri="{FF2B5EF4-FFF2-40B4-BE49-F238E27FC236}">
                <a16:creationId xmlns:a16="http://schemas.microsoft.com/office/drawing/2014/main" id="{1D6079A3-F5E2-A285-E2AA-9FE12EB1B85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164513" y="4027295"/>
            <a:ext cx="697163" cy="697163"/>
          </a:xfrm>
          <a:prstGeom prst="rect">
            <a:avLst/>
          </a:prstGeom>
        </p:spPr>
      </p:pic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B4470E17-0A66-4CF9-F22B-A4DD2887FB6B}"/>
              </a:ext>
            </a:extLst>
          </p:cNvPr>
          <p:cNvCxnSpPr>
            <a:cxnSpLocks/>
          </p:cNvCxnSpPr>
          <p:nvPr/>
        </p:nvCxnSpPr>
        <p:spPr>
          <a:xfrm>
            <a:off x="7495156" y="5831305"/>
            <a:ext cx="0" cy="12296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9D0DA55B-DBC6-4EA7-CB31-1F25E9EED244}"/>
              </a:ext>
            </a:extLst>
          </p:cNvPr>
          <p:cNvCxnSpPr>
            <a:cxnSpLocks/>
          </p:cNvCxnSpPr>
          <p:nvPr/>
        </p:nvCxnSpPr>
        <p:spPr>
          <a:xfrm flipH="1">
            <a:off x="6528641" y="5832464"/>
            <a:ext cx="1" cy="12180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811A9BCF-C257-9AC8-E4DC-EC05CAA3C08A}"/>
              </a:ext>
            </a:extLst>
          </p:cNvPr>
          <p:cNvCxnSpPr>
            <a:cxnSpLocks/>
          </p:cNvCxnSpPr>
          <p:nvPr/>
        </p:nvCxnSpPr>
        <p:spPr>
          <a:xfrm>
            <a:off x="5457088" y="5818081"/>
            <a:ext cx="0" cy="158793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57DD5969-76FD-3E3C-A1A9-459941E7F70A}"/>
              </a:ext>
            </a:extLst>
          </p:cNvPr>
          <p:cNvCxnSpPr>
            <a:cxnSpLocks/>
          </p:cNvCxnSpPr>
          <p:nvPr/>
        </p:nvCxnSpPr>
        <p:spPr>
          <a:xfrm flipH="1" flipV="1">
            <a:off x="3577219" y="5954267"/>
            <a:ext cx="3917937" cy="5416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BF5F4BC2-9849-B8D7-A886-11492D74E871}"/>
              </a:ext>
            </a:extLst>
          </p:cNvPr>
          <p:cNvCxnSpPr>
            <a:cxnSpLocks/>
          </p:cNvCxnSpPr>
          <p:nvPr/>
        </p:nvCxnSpPr>
        <p:spPr>
          <a:xfrm flipH="1" flipV="1">
            <a:off x="3577219" y="4667934"/>
            <a:ext cx="29518" cy="13089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AFF3FAC4-FECA-42F4-6F9E-3E09B925048A}"/>
                  </a:ext>
                </a:extLst>
              </p:cNvPr>
              <p:cNvSpPr txBox="1"/>
              <p:nvPr/>
            </p:nvSpPr>
            <p:spPr>
              <a:xfrm>
                <a:off x="7216300" y="993088"/>
                <a:ext cx="2808515" cy="867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1600" dirty="0"/>
                  <a:t>Command variants generation through model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d>
                        <m:d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𝑐𝑚𝑑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it-IT" sz="160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𝑐𝑚</m:t>
                          </m:r>
                          <m:sSub>
                            <m:sSubPr>
                              <m:ctrlPr>
                                <a:rPr lang="it-IT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it-IT" sz="16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AFF3FAC4-FECA-42F4-6F9E-3E09B9250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00" y="993088"/>
                <a:ext cx="2808515" cy="867417"/>
              </a:xfrm>
              <a:prstGeom prst="rect">
                <a:avLst/>
              </a:prstGeom>
              <a:blipFill>
                <a:blip r:embed="rId20"/>
                <a:stretch>
                  <a:fillRect l="-1304" t="-2113" b="-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7641707A-1F06-8912-622B-3D866FE8644B}"/>
                  </a:ext>
                </a:extLst>
              </p:cNvPr>
              <p:cNvSpPr txBox="1"/>
              <p:nvPr/>
            </p:nvSpPr>
            <p:spPr>
              <a:xfrm>
                <a:off x="7858609" y="2436924"/>
                <a:ext cx="2866234" cy="1397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 startAt="2"/>
                </a:pPr>
                <a:r>
                  <a:rPr lang="en-US" sz="1600" dirty="0"/>
                  <a:t>Replace original command in prompt with each variant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6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t-IT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600" i="1">
                          <a:latin typeface="Cambria Math" panose="02040503050406030204" pitchFamily="18" charset="0"/>
                        </a:rPr>
                        <m:t>𝑐𝑚</m:t>
                      </m:r>
                      <m:sSub>
                        <m:sSubPr>
                          <m:ctrlPr>
                            <a:rPr lang="it-IT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7641707A-1F06-8912-622B-3D866FE86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8609" y="2436924"/>
                <a:ext cx="2866234" cy="1397177"/>
              </a:xfrm>
              <a:prstGeom prst="rect">
                <a:avLst/>
              </a:prstGeom>
              <a:blipFill>
                <a:blip r:embed="rId21"/>
                <a:stretch>
                  <a:fillRect l="-1064" t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BF941590-47D1-EB47-3A91-7A75D76911E0}"/>
                  </a:ext>
                </a:extLst>
              </p:cNvPr>
              <p:cNvSpPr txBox="1"/>
              <p:nvPr/>
            </p:nvSpPr>
            <p:spPr>
              <a:xfrm>
                <a:off x="8026429" y="4084336"/>
                <a:ext cx="3079438" cy="5955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 startAt="3"/>
                </a:pPr>
                <a:r>
                  <a:rPr lang="en-US" sz="1600" dirty="0"/>
                  <a:t>Add evaluation request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𝑆𝑅𝐶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BF941590-47D1-EB47-3A91-7A75D7691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429" y="4084336"/>
                <a:ext cx="3079438" cy="595548"/>
              </a:xfrm>
              <a:prstGeom prst="rect">
                <a:avLst/>
              </a:prstGeom>
              <a:blipFill>
                <a:blip r:embed="rId22"/>
                <a:stretch>
                  <a:fillRect l="-1188" t="-3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EA056203-E17A-4DB1-B8BF-12421586A765}"/>
                  </a:ext>
                </a:extLst>
              </p:cNvPr>
              <p:cNvSpPr txBox="1"/>
              <p:nvPr/>
            </p:nvSpPr>
            <p:spPr>
              <a:xfrm>
                <a:off x="8026430" y="5008462"/>
                <a:ext cx="3327628" cy="1385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 startAt="4"/>
                </a:pPr>
                <a:r>
                  <a:rPr lang="en-US" sz="1600" dirty="0"/>
                  <a:t>Model responds with its correctness evaluation</a:t>
                </a:r>
              </a:p>
              <a:p>
                <a:pPr lvl="1"/>
                <a:r>
                  <a:rPr lang="it-IT" sz="1600" dirty="0"/>
                  <a:t>	</a:t>
                </a:r>
                <a14:m>
                  <m:oMath xmlns:m="http://schemas.openxmlformats.org/officeDocument/2006/math">
                    <m:r>
                      <a:rPr lang="it-IT" sz="1600" i="1">
                        <a:latin typeface="Cambria Math" panose="02040503050406030204" pitchFamily="18" charset="0"/>
                      </a:rPr>
                      <m:t>𝑆𝐿𝑀</m:t>
                    </m:r>
                    <m:d>
                      <m:d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600" i="1">
                                <a:latin typeface="Cambria Math" panose="02040503050406030204" pitchFamily="18" charset="0"/>
                              </a:rPr>
                              <m:t>𝑆𝑅𝐶</m:t>
                            </m:r>
                            <m:r>
                              <a:rPr lang="it-IT" sz="16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it-IT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it-IT" sz="1600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𝑆𝑅𝐶</m:t>
                        </m:r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1600" i="1">
                        <a:latin typeface="Cambria Math" panose="02040503050406030204" pitchFamily="18" charset="0"/>
                      </a:rPr>
                      <m:t> ≡ </m:t>
                    </m:r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1600">
                        <a:latin typeface="Cambria Math" panose="02040503050406030204" pitchFamily="18" charset="0"/>
                      </a:rPr>
                      <m:t>=0</m:t>
                    </m:r>
                    <m:r>
                      <a:rPr lang="it-IT" sz="1600" i="1">
                        <a:latin typeface="Cambria Math" panose="02040503050406030204" pitchFamily="18" charset="0"/>
                      </a:rPr>
                      <m:t>∧0.5∧1</m:t>
                    </m:r>
                  </m:oMath>
                </a14:m>
                <a:endParaRPr lang="en-US" sz="1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EA056203-E17A-4DB1-B8BF-12421586A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430" y="5008462"/>
                <a:ext cx="3327628" cy="1385957"/>
              </a:xfrm>
              <a:prstGeom prst="rect">
                <a:avLst/>
              </a:prstGeom>
              <a:blipFill>
                <a:blip r:embed="rId23"/>
                <a:stretch>
                  <a:fillRect l="-1099" t="-1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6E8D6AB3-02FA-4571-C09E-0BCE5F5EF575}"/>
                  </a:ext>
                </a:extLst>
              </p:cNvPr>
              <p:cNvSpPr txBox="1"/>
              <p:nvPr/>
            </p:nvSpPr>
            <p:spPr>
              <a:xfrm>
                <a:off x="486627" y="3351389"/>
                <a:ext cx="4111170" cy="1256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endParaRPr lang="en-US" sz="1600" dirty="0"/>
              </a:p>
              <a:p>
                <a:pPr marL="342900" indent="-342900">
                  <a:buFont typeface="+mj-lt"/>
                  <a:buAutoNum type="arabicPeriod" startAt="5"/>
                </a:pPr>
                <a:r>
                  <a:rPr lang="en-US" sz="1600" dirty="0"/>
                  <a:t>Score = average of all variants responses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𝑆𝑅𝐶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 = (</m:t>
                      </m:r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) × 100 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6E8D6AB3-02FA-4571-C09E-0BCE5F5EF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27" y="3351389"/>
                <a:ext cx="4111170" cy="1256947"/>
              </a:xfrm>
              <a:prstGeom prst="rect">
                <a:avLst/>
              </a:prstGeom>
              <a:blipFill>
                <a:blip r:embed="rId24"/>
                <a:stretch>
                  <a:fillRect l="-890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E584CC3-C61F-9B1A-3EEF-CDB31BBA6157}"/>
              </a:ext>
            </a:extLst>
          </p:cNvPr>
          <p:cNvSpPr txBox="1"/>
          <p:nvPr/>
        </p:nvSpPr>
        <p:spPr>
          <a:xfrm>
            <a:off x="1393233" y="3144780"/>
            <a:ext cx="209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SRC SCORE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B12D5231-DD3A-4CB0-19FF-77826451E35D}"/>
              </a:ext>
            </a:extLst>
          </p:cNvPr>
          <p:cNvSpPr/>
          <p:nvPr/>
        </p:nvSpPr>
        <p:spPr>
          <a:xfrm>
            <a:off x="7198278" y="962964"/>
            <a:ext cx="3034293" cy="88269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D4FF317D-CC70-C43E-3D59-6A425D4097A6}"/>
              </a:ext>
            </a:extLst>
          </p:cNvPr>
          <p:cNvSpPr/>
          <p:nvPr/>
        </p:nvSpPr>
        <p:spPr>
          <a:xfrm>
            <a:off x="7858609" y="2399283"/>
            <a:ext cx="3046847" cy="117639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BC7007D7-3F3F-8222-5590-8448B8E42371}"/>
              </a:ext>
            </a:extLst>
          </p:cNvPr>
          <p:cNvSpPr/>
          <p:nvPr/>
        </p:nvSpPr>
        <p:spPr>
          <a:xfrm>
            <a:off x="8045646" y="4029761"/>
            <a:ext cx="2679197" cy="69469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F36775A3-2853-FF80-F23A-186D9179C5C0}"/>
              </a:ext>
            </a:extLst>
          </p:cNvPr>
          <p:cNvSpPr/>
          <p:nvPr/>
        </p:nvSpPr>
        <p:spPr>
          <a:xfrm>
            <a:off x="8013118" y="4966643"/>
            <a:ext cx="3242709" cy="11871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6E1D5D7C-9599-45D4-8B74-29F977AB4D34}"/>
              </a:ext>
            </a:extLst>
          </p:cNvPr>
          <p:cNvSpPr/>
          <p:nvPr/>
        </p:nvSpPr>
        <p:spPr>
          <a:xfrm>
            <a:off x="390627" y="3469862"/>
            <a:ext cx="4207170" cy="114907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8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FABA2-8BA2-FBF6-5106-C7D40593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004FA98-889F-673A-3308-418285F7F7D0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3DDC7AE-3A6E-1D6B-9926-B4215B9E2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7DDA9F-53D7-B1AF-1726-B00E0BC2BC7D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11/22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DC670A-192A-C4E4-42EC-F0D43EE007B4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C08056-5623-8B6F-3F01-7E6608571140}"/>
              </a:ext>
            </a:extLst>
          </p:cNvPr>
          <p:cNvSpPr txBox="1"/>
          <p:nvPr/>
        </p:nvSpPr>
        <p:spPr>
          <a:xfrm>
            <a:off x="6847367" y="1646275"/>
            <a:ext cx="492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bg1"/>
                </a:solidFill>
              </a:rPr>
              <a:t>AUV</a:t>
            </a:r>
            <a:r>
              <a:rPr lang="en-US" sz="2000" noProof="0" dirty="0">
                <a:solidFill>
                  <a:schemeClr val="bg1"/>
                </a:solidFill>
              </a:rPr>
              <a:t>: </a:t>
            </a:r>
            <a:r>
              <a:rPr lang="en-US" sz="2000" b="1" noProof="0" dirty="0">
                <a:solidFill>
                  <a:schemeClr val="bg1"/>
                </a:solidFill>
              </a:rPr>
              <a:t>A</a:t>
            </a:r>
            <a:r>
              <a:rPr lang="en-US" sz="2000" noProof="0" dirty="0">
                <a:solidFill>
                  <a:schemeClr val="bg1"/>
                </a:solidFill>
              </a:rPr>
              <a:t>utonomous </a:t>
            </a:r>
            <a:r>
              <a:rPr lang="en-US" sz="2000" b="1" noProof="0" dirty="0">
                <a:solidFill>
                  <a:schemeClr val="bg1"/>
                </a:solidFill>
              </a:rPr>
              <a:t>U</a:t>
            </a:r>
            <a:r>
              <a:rPr lang="en-US" sz="2000" noProof="0" dirty="0">
                <a:solidFill>
                  <a:schemeClr val="bg1"/>
                </a:solidFill>
              </a:rPr>
              <a:t>nderwater </a:t>
            </a:r>
            <a:r>
              <a:rPr lang="en-US" sz="2000" b="1" noProof="0" dirty="0">
                <a:solidFill>
                  <a:schemeClr val="bg1"/>
                </a:solidFill>
              </a:rPr>
              <a:t>V</a:t>
            </a:r>
            <a:r>
              <a:rPr lang="en-US" sz="2000" noProof="0" dirty="0">
                <a:solidFill>
                  <a:schemeClr val="bg1"/>
                </a:solidFill>
              </a:rPr>
              <a:t>ehicle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4944C38-344C-1B93-1279-D4BD63E78EE8}"/>
              </a:ext>
            </a:extLst>
          </p:cNvPr>
          <p:cNvCxnSpPr>
            <a:cxnSpLocks/>
          </p:cNvCxnSpPr>
          <p:nvPr/>
        </p:nvCxnSpPr>
        <p:spPr>
          <a:xfrm flipH="1">
            <a:off x="7421733" y="2042951"/>
            <a:ext cx="510363" cy="6542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Language SVG Vector Icon">
            <a:extLst>
              <a:ext uri="{FF2B5EF4-FFF2-40B4-BE49-F238E27FC236}">
                <a16:creationId xmlns:a16="http://schemas.microsoft.com/office/drawing/2014/main" id="{B5B5B278-E35A-9D70-88EA-0A764BAC3D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94810" y="294819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2587247E-A34D-8FED-6246-EF9DA70BC2A6}"/>
              </a:ext>
            </a:extLst>
          </p:cNvPr>
          <p:cNvSpPr txBox="1"/>
          <p:nvPr/>
        </p:nvSpPr>
        <p:spPr>
          <a:xfrm>
            <a:off x="0" y="1061828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Mission failure  </a:t>
            </a:r>
            <a:r>
              <a:rPr lang="en-US" sz="2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⟹  </a:t>
            </a:r>
            <a:r>
              <a:rPr lang="en-US" sz="2800" b="1" dirty="0"/>
              <a:t>Automatic replanning</a:t>
            </a:r>
          </a:p>
        </p:txBody>
      </p:sp>
      <p:sp>
        <p:nvSpPr>
          <p:cNvPr id="27" name="TextBox 1">
            <a:extLst>
              <a:ext uri="{FF2B5EF4-FFF2-40B4-BE49-F238E27FC236}">
                <a16:creationId xmlns:a16="http://schemas.microsoft.com/office/drawing/2014/main" id="{B6726AD4-D004-6C54-C46A-9CFF845F646E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1. </a:t>
            </a:r>
            <a:r>
              <a:rPr lang="en-US" sz="2400" b="1" noProof="0" dirty="0">
                <a:solidFill>
                  <a:schemeClr val="bg1"/>
                </a:solidFill>
              </a:rPr>
              <a:t>Introduction - Method</a:t>
            </a:r>
          </a:p>
        </p:txBody>
      </p:sp>
      <p:sp>
        <p:nvSpPr>
          <p:cNvPr id="64" name="Rectangle 6">
            <a:extLst>
              <a:ext uri="{FF2B5EF4-FFF2-40B4-BE49-F238E27FC236}">
                <a16:creationId xmlns:a16="http://schemas.microsoft.com/office/drawing/2014/main" id="{907963DA-8114-A06C-50E8-9619C6710E92}"/>
              </a:ext>
            </a:extLst>
          </p:cNvPr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FC5A2629-AFBD-4E93-622D-1EE32416F714}"/>
              </a:ext>
            </a:extLst>
          </p:cNvPr>
          <p:cNvSpPr txBox="1"/>
          <p:nvPr/>
        </p:nvSpPr>
        <p:spPr>
          <a:xfrm>
            <a:off x="138222" y="131909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2</a:t>
            </a:r>
            <a:r>
              <a:rPr lang="en-US" sz="2400" noProof="0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Approach</a:t>
            </a:r>
            <a:r>
              <a:rPr lang="en-US" sz="2400" b="1" noProof="0" dirty="0">
                <a:solidFill>
                  <a:schemeClr val="bg1"/>
                </a:solidFill>
              </a:rPr>
              <a:t> - </a:t>
            </a:r>
            <a:r>
              <a:rPr lang="en-US" sz="2400" b="1" dirty="0">
                <a:solidFill>
                  <a:schemeClr val="bg1"/>
                </a:solidFill>
              </a:rPr>
              <a:t>Failure</a:t>
            </a:r>
            <a:endParaRPr lang="en-US" sz="2400" b="1" noProof="0" dirty="0">
              <a:solidFill>
                <a:schemeClr val="bg1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4BA6414-5219-092E-9395-7DC2702635F1}"/>
              </a:ext>
            </a:extLst>
          </p:cNvPr>
          <p:cNvSpPr txBox="1"/>
          <p:nvPr/>
        </p:nvSpPr>
        <p:spPr>
          <a:xfrm>
            <a:off x="1621765" y="5290911"/>
            <a:ext cx="1016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USER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23788BE-1812-578D-5260-4E5951260C04}"/>
              </a:ext>
            </a:extLst>
          </p:cNvPr>
          <p:cNvSpPr txBox="1"/>
          <p:nvPr/>
        </p:nvSpPr>
        <p:spPr>
          <a:xfrm>
            <a:off x="4883523" y="5360738"/>
            <a:ext cx="1616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SLM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48BB246-D7BF-B893-624F-DA980678027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64063" y="4328104"/>
            <a:ext cx="962807" cy="962807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B71FEA81-55E4-E2E1-E2C7-603EBA96C9D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546629" y="4085754"/>
            <a:ext cx="1268314" cy="1268314"/>
          </a:xfrm>
          <a:prstGeom prst="rect">
            <a:avLst/>
          </a:prstGeom>
        </p:spPr>
      </p:pic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E8D5C209-3017-3041-9FBD-818702E2B29B}"/>
              </a:ext>
            </a:extLst>
          </p:cNvPr>
          <p:cNvCxnSpPr>
            <a:cxnSpLocks/>
          </p:cNvCxnSpPr>
          <p:nvPr/>
        </p:nvCxnSpPr>
        <p:spPr>
          <a:xfrm>
            <a:off x="3041397" y="4864818"/>
            <a:ext cx="19492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A25B44CC-B5FA-F4FD-C95E-3B8296B5B887}"/>
              </a:ext>
            </a:extLst>
          </p:cNvPr>
          <p:cNvCxnSpPr>
            <a:cxnSpLocks/>
          </p:cNvCxnSpPr>
          <p:nvPr/>
        </p:nvCxnSpPr>
        <p:spPr>
          <a:xfrm flipV="1">
            <a:off x="6548687" y="5235914"/>
            <a:ext cx="1887742" cy="1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96C9C0C-05F1-BFA9-077C-86E45A5265B5}"/>
              </a:ext>
            </a:extLst>
          </p:cNvPr>
          <p:cNvSpPr txBox="1"/>
          <p:nvPr/>
        </p:nvSpPr>
        <p:spPr>
          <a:xfrm>
            <a:off x="8578319" y="5235914"/>
            <a:ext cx="174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EXECUTION</a:t>
            </a:r>
          </a:p>
        </p:txBody>
      </p:sp>
      <p:pic>
        <p:nvPicPr>
          <p:cNvPr id="18" name="Picture 14" descr="Little Submarine icon | Freepik">
            <a:extLst>
              <a:ext uri="{FF2B5EF4-FFF2-40B4-BE49-F238E27FC236}">
                <a16:creationId xmlns:a16="http://schemas.microsoft.com/office/drawing/2014/main" id="{177247DA-08A8-47AB-B264-5B40C7B6C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2770" y="4405240"/>
            <a:ext cx="919156" cy="91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F2FB007A-0CC4-26AC-BDB1-AF4B8FD70CCF}"/>
              </a:ext>
            </a:extLst>
          </p:cNvPr>
          <p:cNvCxnSpPr>
            <a:cxnSpLocks/>
          </p:cNvCxnSpPr>
          <p:nvPr/>
        </p:nvCxnSpPr>
        <p:spPr>
          <a:xfrm flipH="1">
            <a:off x="6499610" y="4767658"/>
            <a:ext cx="19368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E14FF13E-A872-148D-A4F8-037E1FFDBFDE}"/>
              </a:ext>
            </a:extLst>
          </p:cNvPr>
          <p:cNvSpPr txBox="1"/>
          <p:nvPr/>
        </p:nvSpPr>
        <p:spPr>
          <a:xfrm>
            <a:off x="6621316" y="5290911"/>
            <a:ext cx="1742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PLAN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CB9A6F80-B091-8F2E-D2CB-E96C2F4CB06B}"/>
              </a:ext>
            </a:extLst>
          </p:cNvPr>
          <p:cNvSpPr txBox="1"/>
          <p:nvPr/>
        </p:nvSpPr>
        <p:spPr>
          <a:xfrm>
            <a:off x="6596777" y="4085754"/>
            <a:ext cx="1742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FAILURE</a:t>
            </a:r>
            <a:br>
              <a:rPr lang="en-GB" dirty="0"/>
            </a:br>
            <a:r>
              <a:rPr lang="en-GB" dirty="0"/>
              <a:t>CONTEXT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4FC9D23C-4A75-6156-E1DC-FB83EDE97F77}"/>
              </a:ext>
            </a:extLst>
          </p:cNvPr>
          <p:cNvSpPr txBox="1"/>
          <p:nvPr/>
        </p:nvSpPr>
        <p:spPr>
          <a:xfrm>
            <a:off x="621246" y="1946884"/>
            <a:ext cx="108849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concept is that another task will satisfy the request, like a plan B.</a:t>
            </a:r>
          </a:p>
          <a:p>
            <a:endParaRPr lang="en-US" sz="2400" dirty="0"/>
          </a:p>
          <a:p>
            <a:r>
              <a:rPr lang="en-US" sz="2400" dirty="0"/>
              <a:t>The model receives some failure context: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name of the mission that failed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Events occurred during said mission</a:t>
            </a:r>
          </a:p>
        </p:txBody>
      </p:sp>
    </p:spTree>
    <p:extLst>
      <p:ext uri="{BB962C8B-B14F-4D97-AF65-F5344CB8AC3E}">
        <p14:creationId xmlns:p14="http://schemas.microsoft.com/office/powerpoint/2010/main" val="194382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4B031-A133-FDB5-65F9-79A9CB5C2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6AB88A-5DF8-DAAE-F077-8C24D5629E50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1FDF2-FEB9-6EEA-86B7-26441FD1E231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5F755EA-F3E9-BC35-AC60-489ACF5CF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4A1125-4F3C-5006-A095-49728B0AE380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12/22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1FB568-A9A6-2828-7DBA-1CD26B9487D2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EFAE3A-64E7-6188-411D-AD9D61AF9664}"/>
              </a:ext>
            </a:extLst>
          </p:cNvPr>
          <p:cNvCxnSpPr>
            <a:cxnSpLocks/>
          </p:cNvCxnSpPr>
          <p:nvPr/>
        </p:nvCxnSpPr>
        <p:spPr>
          <a:xfrm flipH="1">
            <a:off x="7106465" y="1142898"/>
            <a:ext cx="510363" cy="6542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D526D9C-48D8-8ED9-8EAA-2E51B5B0E7C7}"/>
              </a:ext>
            </a:extLst>
          </p:cNvPr>
          <p:cNvSpPr txBox="1"/>
          <p:nvPr/>
        </p:nvSpPr>
        <p:spPr>
          <a:xfrm>
            <a:off x="7681264" y="4631350"/>
            <a:ext cx="258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Posidonia Oceanica</a:t>
            </a:r>
          </a:p>
        </p:txBody>
      </p:sp>
      <p:sp>
        <p:nvSpPr>
          <p:cNvPr id="8" name="AutoShape 2" descr="Language SVG Vector Icon">
            <a:extLst>
              <a:ext uri="{FF2B5EF4-FFF2-40B4-BE49-F238E27FC236}">
                <a16:creationId xmlns:a16="http://schemas.microsoft.com/office/drawing/2014/main" id="{9A9CB7FC-497C-1A2B-E582-7190253534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9549" y="274737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05B5ED2C-A6D2-328A-C81A-2198CE826A12}"/>
              </a:ext>
            </a:extLst>
          </p:cNvPr>
          <p:cNvSpPr txBox="1"/>
          <p:nvPr/>
        </p:nvSpPr>
        <p:spPr>
          <a:xfrm>
            <a:off x="137313" y="131909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2</a:t>
            </a:r>
            <a:r>
              <a:rPr lang="en-US" sz="2400" noProof="0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Approach</a:t>
            </a:r>
            <a:r>
              <a:rPr lang="en-US" sz="2400" b="1" noProof="0" dirty="0">
                <a:solidFill>
                  <a:schemeClr val="bg1"/>
                </a:solidFill>
              </a:rPr>
              <a:t> - Model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76B0753-BD23-C456-0395-9036290F3AFD}"/>
              </a:ext>
            </a:extLst>
          </p:cNvPr>
          <p:cNvSpPr txBox="1"/>
          <p:nvPr/>
        </p:nvSpPr>
        <p:spPr>
          <a:xfrm>
            <a:off x="402771" y="1110343"/>
            <a:ext cx="63463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Model selected: </a:t>
            </a:r>
            <a:r>
              <a:rPr lang="en-US" sz="2000" b="1" dirty="0"/>
              <a:t>FLAN-T5-base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T5 = text-to-text encoder-decoder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Transformers based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FLAN training for following instructions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8472695D-39A9-2BDC-CAEE-71A7882128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6773" y="719999"/>
            <a:ext cx="1003572" cy="1003572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8E7A159-A259-9794-7543-19EFE2B79BFA}"/>
              </a:ext>
            </a:extLst>
          </p:cNvPr>
          <p:cNvSpPr txBox="1"/>
          <p:nvPr/>
        </p:nvSpPr>
        <p:spPr>
          <a:xfrm>
            <a:off x="500995" y="2747377"/>
            <a:ext cx="6346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Model fine-tuning: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LoRA</a:t>
            </a:r>
            <a:r>
              <a:rPr lang="en-US" sz="2000" dirty="0"/>
              <a:t> 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Application-based dataset construction: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Batch = same output examples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Equal sized batch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Examples type ratio per batch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Training, validation and testing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09386B90-654B-126F-F3EF-B777B04FD436}"/>
                  </a:ext>
                </a:extLst>
              </p:cNvPr>
              <p:cNvSpPr txBox="1"/>
              <p:nvPr/>
            </p:nvSpPr>
            <p:spPr>
              <a:xfrm>
                <a:off x="6382734" y="2776639"/>
                <a:ext cx="435221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54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it-IT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5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5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it-IT" sz="5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5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5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09386B90-654B-126F-F3EF-B777B04FD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734" y="2776639"/>
                <a:ext cx="4352217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CC4050A9-D672-22E4-5DF2-A306387FA9E7}"/>
                  </a:ext>
                </a:extLst>
              </p:cNvPr>
              <p:cNvSpPr txBox="1"/>
              <p:nvPr/>
            </p:nvSpPr>
            <p:spPr>
              <a:xfrm>
                <a:off x="7765033" y="1530295"/>
                <a:ext cx="1201932" cy="12959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CC4050A9-D672-22E4-5DF2-A306387FA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5033" y="1530295"/>
                <a:ext cx="1201932" cy="12959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B8BAD3F3-3799-840B-DEC1-3D12E58D40C9}"/>
                  </a:ext>
                </a:extLst>
              </p:cNvPr>
              <p:cNvSpPr txBox="1"/>
              <p:nvPr/>
            </p:nvSpPr>
            <p:spPr>
              <a:xfrm>
                <a:off x="9735760" y="1561797"/>
                <a:ext cx="599203" cy="1273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</m:eqArr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CasellaDiTesto 28">
                <a:extLst>
                  <a:ext uri="{FF2B5EF4-FFF2-40B4-BE49-F238E27FC236}">
                    <a16:creationId xmlns:a16="http://schemas.microsoft.com/office/drawing/2014/main" id="{B8BAD3F3-3799-840B-DEC1-3D12E58D4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5760" y="1561797"/>
                <a:ext cx="599203" cy="12730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F10D7260-90D6-C245-9B69-7391B57CB86B}"/>
                  </a:ext>
                </a:extLst>
              </p:cNvPr>
              <p:cNvSpPr txBox="1"/>
              <p:nvPr/>
            </p:nvSpPr>
            <p:spPr>
              <a:xfrm>
                <a:off x="10279524" y="2277427"/>
                <a:ext cx="1310843" cy="553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████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█████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CasellaDiTesto 30">
                <a:extLst>
                  <a:ext uri="{FF2B5EF4-FFF2-40B4-BE49-F238E27FC236}">
                    <a16:creationId xmlns:a16="http://schemas.microsoft.com/office/drawing/2014/main" id="{F10D7260-90D6-C245-9B69-7391B57CB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9524" y="2277427"/>
                <a:ext cx="1310843" cy="5534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946F0824-A76C-0DBF-BA44-0F87C7ED681D}"/>
              </a:ext>
            </a:extLst>
          </p:cNvPr>
          <p:cNvSpPr txBox="1"/>
          <p:nvPr/>
        </p:nvSpPr>
        <p:spPr>
          <a:xfrm>
            <a:off x="7856142" y="3587732"/>
            <a:ext cx="1234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FROZEN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B09291DA-B144-E4AD-8C72-ADB37CD44A3D}"/>
              </a:ext>
            </a:extLst>
          </p:cNvPr>
          <p:cNvSpPr txBox="1"/>
          <p:nvPr/>
        </p:nvSpPr>
        <p:spPr>
          <a:xfrm>
            <a:off x="9553423" y="3527967"/>
            <a:ext cx="1409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TRAINABLE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95CB1DB6-D9D7-2F32-DDBE-F47DA1E70E7D}"/>
              </a:ext>
            </a:extLst>
          </p:cNvPr>
          <p:cNvSpPr txBox="1"/>
          <p:nvPr/>
        </p:nvSpPr>
        <p:spPr>
          <a:xfrm>
            <a:off x="9724624" y="1225494"/>
            <a:ext cx="599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067739F6-9441-7AB6-D344-E7C71F5FE49F}"/>
              </a:ext>
            </a:extLst>
          </p:cNvPr>
          <p:cNvSpPr txBox="1"/>
          <p:nvPr/>
        </p:nvSpPr>
        <p:spPr>
          <a:xfrm>
            <a:off x="9295923" y="2053043"/>
            <a:ext cx="599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BE48D1B-9851-85BA-52D7-5CD9F74290DA}"/>
              </a:ext>
            </a:extLst>
          </p:cNvPr>
          <p:cNvSpPr txBox="1"/>
          <p:nvPr/>
        </p:nvSpPr>
        <p:spPr>
          <a:xfrm>
            <a:off x="7391329" y="2012627"/>
            <a:ext cx="599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CDB51179-A12B-B02F-C289-D868F37268DF}"/>
              </a:ext>
            </a:extLst>
          </p:cNvPr>
          <p:cNvSpPr txBox="1"/>
          <p:nvPr/>
        </p:nvSpPr>
        <p:spPr>
          <a:xfrm>
            <a:off x="8060225" y="1225494"/>
            <a:ext cx="599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908A89B2-FD3C-FF95-0109-64AC387F696E}"/>
              </a:ext>
            </a:extLst>
          </p:cNvPr>
          <p:cNvSpPr txBox="1"/>
          <p:nvPr/>
        </p:nvSpPr>
        <p:spPr>
          <a:xfrm>
            <a:off x="10635343" y="2019961"/>
            <a:ext cx="599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B7519E0-B2B0-9FC7-8C77-B110C69BD225}"/>
              </a:ext>
            </a:extLst>
          </p:cNvPr>
          <p:cNvSpPr txBox="1"/>
          <p:nvPr/>
        </p:nvSpPr>
        <p:spPr>
          <a:xfrm>
            <a:off x="11375562" y="2369471"/>
            <a:ext cx="599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ECBE1798-A83F-1D46-2E83-748AC0B0AB36}"/>
                  </a:ext>
                </a:extLst>
              </p:cNvPr>
              <p:cNvSpPr txBox="1"/>
              <p:nvPr/>
            </p:nvSpPr>
            <p:spPr>
              <a:xfrm>
                <a:off x="10149771" y="1196671"/>
                <a:ext cx="21695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2000" b="1" dirty="0"/>
                  <a:t>Low </a:t>
                </a:r>
                <a:r>
                  <a:rPr lang="it-IT" sz="2000" b="1" dirty="0" err="1"/>
                  <a:t>rank</a:t>
                </a:r>
                <a:r>
                  <a:rPr lang="it-IT" sz="2000" b="1" dirty="0"/>
                  <a:t> :</a:t>
                </a:r>
              </a:p>
              <a:p>
                <a:pPr algn="ctr"/>
                <a:r>
                  <a:rPr lang="it-IT" sz="2000" b="1" dirty="0"/>
                  <a:t> </a:t>
                </a:r>
                <a14:m>
                  <m:oMath xmlns:m="http://schemas.openxmlformats.org/officeDocument/2006/math"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&lt;&lt;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!</m:t>
                    </m:r>
                  </m:oMath>
                </a14:m>
                <a:endParaRPr lang="it-IT" sz="2000" b="1" dirty="0"/>
              </a:p>
            </p:txBody>
          </p:sp>
        </mc:Choice>
        <mc:Fallback xmlns=""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ECBE1798-A83F-1D46-2E83-748AC0B0A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771" y="1196671"/>
                <a:ext cx="2169550" cy="707886"/>
              </a:xfrm>
              <a:prstGeom prst="rect">
                <a:avLst/>
              </a:prstGeom>
              <a:blipFill>
                <a:blip r:embed="rId9"/>
                <a:stretch>
                  <a:fillRect t="-4310" b="-12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Connettore a gomito 46">
            <a:extLst>
              <a:ext uri="{FF2B5EF4-FFF2-40B4-BE49-F238E27FC236}">
                <a16:creationId xmlns:a16="http://schemas.microsoft.com/office/drawing/2014/main" id="{668B3FE3-C01E-8EBD-D79B-8522725BF101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2611945" y="3192138"/>
            <a:ext cx="3770789" cy="9976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Grafico 53">
            <a:extLst>
              <a:ext uri="{FF2B5EF4-FFF2-40B4-BE49-F238E27FC236}">
                <a16:creationId xmlns:a16="http://schemas.microsoft.com/office/drawing/2014/main" id="{A2DC6A18-78DE-48E9-3FD9-7E016C472B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1673992"/>
              </p:ext>
            </p:extLst>
          </p:nvPr>
        </p:nvGraphicFramePr>
        <p:xfrm>
          <a:off x="8373353" y="4099323"/>
          <a:ext cx="3324016" cy="19286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60" name="Grafico 59">
            <a:extLst>
              <a:ext uri="{FF2B5EF4-FFF2-40B4-BE49-F238E27FC236}">
                <a16:creationId xmlns:a16="http://schemas.microsoft.com/office/drawing/2014/main" id="{B324DBEE-DCC3-06A7-54D0-8595C75AF9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4534149"/>
              </p:ext>
            </p:extLst>
          </p:nvPr>
        </p:nvGraphicFramePr>
        <p:xfrm>
          <a:off x="5954820" y="4067126"/>
          <a:ext cx="3324016" cy="19286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cxnSp>
        <p:nvCxnSpPr>
          <p:cNvPr id="61" name="Connettore a gomito 60">
            <a:extLst>
              <a:ext uri="{FF2B5EF4-FFF2-40B4-BE49-F238E27FC236}">
                <a16:creationId xmlns:a16="http://schemas.microsoft.com/office/drawing/2014/main" id="{5C4BED8A-0747-DCED-537D-4B6D2D65A599}"/>
              </a:ext>
            </a:extLst>
          </p:cNvPr>
          <p:cNvCxnSpPr>
            <a:cxnSpLocks/>
          </p:cNvCxnSpPr>
          <p:nvPr/>
        </p:nvCxnSpPr>
        <p:spPr>
          <a:xfrm>
            <a:off x="4832131" y="4490422"/>
            <a:ext cx="1861221" cy="47123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410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E0030-D83A-696A-22B6-495D5D37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EE54C7A-FBFF-F512-D745-49C7303C3B9E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DB715E-FD3A-9144-BD7D-CDD1C1555554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B19E151-2622-BF80-572C-BC99FE940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C2BC40-F326-E231-3E71-31755F4663E6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8BB4F9C-67C4-1BF9-1D82-877C3FCDE8CA}"/>
              </a:ext>
            </a:extLst>
          </p:cNvPr>
          <p:cNvSpPr txBox="1"/>
          <p:nvPr/>
        </p:nvSpPr>
        <p:spPr>
          <a:xfrm>
            <a:off x="473342" y="997011"/>
            <a:ext cx="11580435" cy="6001643"/>
          </a:xfrm>
          <a:prstGeom prst="rect">
            <a:avLst/>
          </a:prstGeom>
          <a:noFill/>
        </p:spPr>
        <p:txBody>
          <a:bodyPr wrap="square" numCol="2" rtlCol="0" anchor="ctr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Problem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Recent research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Approach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Context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Confidence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Failure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Model 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/>
              <a:t>Application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/>
              <a:t>Behavior Tree manager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/>
              <a:t>SLM manager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Results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Training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Confidence and Correctness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Experiments in simulation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37994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D9E2E-2000-5DE9-14D9-7A1656023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7E8625B-A187-7543-E988-FF3B696DCCD4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06DB02-81A6-0E50-A5AF-112A75213B77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B73A4A1-02DD-9BB6-A14E-3CBC4890B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85EC7B-C83D-8D13-42C8-8BF86B861783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13/22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B2EFF3-04EF-0167-AA66-3AFBACC2F858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244586-16B2-C6F7-08B9-ECD7F9577A08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>
                <a:solidFill>
                  <a:schemeClr val="bg1"/>
                </a:solidFill>
              </a:rPr>
              <a:t>3. Application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130F388-1A20-4494-DE0F-BD1F51ACEFD0}"/>
              </a:ext>
            </a:extLst>
          </p:cNvPr>
          <p:cNvSpPr txBox="1"/>
          <p:nvPr/>
        </p:nvSpPr>
        <p:spPr>
          <a:xfrm>
            <a:off x="468086" y="1088571"/>
            <a:ext cx="676002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CONTROL SYSTEM BEFORE APPROACH APPLICATION:</a:t>
            </a:r>
          </a:p>
          <a:p>
            <a:endParaRPr lang="en-US" sz="2000" b="1" dirty="0"/>
          </a:p>
          <a:p>
            <a:r>
              <a:rPr lang="en-US" sz="2000" dirty="0"/>
              <a:t>The system uses an element called BT manager that handles mission execution through behavior trees.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Each mission corresponds to a behavior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user builds a message containing a mission tag defining the tree to trigger and execution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user sends the message to the BT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BT manager handles execution by sending path info to the control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875A5DA3-3136-7FE2-03C4-B15D00F98D1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11305" y="3100457"/>
            <a:ext cx="907421" cy="907421"/>
          </a:xfrm>
          <a:prstGeom prst="rect">
            <a:avLst/>
          </a:prstGeom>
        </p:spPr>
      </p:pic>
      <p:pic>
        <p:nvPicPr>
          <p:cNvPr id="23" name="Picture 14" descr="Little Submarine icon | Freepik">
            <a:extLst>
              <a:ext uri="{FF2B5EF4-FFF2-40B4-BE49-F238E27FC236}">
                <a16:creationId xmlns:a16="http://schemas.microsoft.com/office/drawing/2014/main" id="{3A62DF90-1D0B-1034-4598-4A1746604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305" y="4885085"/>
            <a:ext cx="919156" cy="91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A0CDB1C-AC80-763D-228D-FE95EF2E67B5}"/>
              </a:ext>
            </a:extLst>
          </p:cNvPr>
          <p:cNvSpPr txBox="1"/>
          <p:nvPr/>
        </p:nvSpPr>
        <p:spPr>
          <a:xfrm>
            <a:off x="8932070" y="4015762"/>
            <a:ext cx="166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BT MANAGER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72E4117-08A3-3EAB-58B6-41D787E90D58}"/>
              </a:ext>
            </a:extLst>
          </p:cNvPr>
          <p:cNvSpPr txBox="1"/>
          <p:nvPr/>
        </p:nvSpPr>
        <p:spPr>
          <a:xfrm>
            <a:off x="8339805" y="5619575"/>
            <a:ext cx="309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AUV CONTROL SYSTEM</a:t>
            </a:r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2C66343B-8DA1-5280-9D04-635AA2EF66E8}"/>
              </a:ext>
            </a:extLst>
          </p:cNvPr>
          <p:cNvCxnSpPr>
            <a:cxnSpLocks/>
          </p:cNvCxnSpPr>
          <p:nvPr/>
        </p:nvCxnSpPr>
        <p:spPr>
          <a:xfrm>
            <a:off x="9770883" y="4507869"/>
            <a:ext cx="0" cy="4613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Immagine 32">
            <a:extLst>
              <a:ext uri="{FF2B5EF4-FFF2-40B4-BE49-F238E27FC236}">
                <a16:creationId xmlns:a16="http://schemas.microsoft.com/office/drawing/2014/main" id="{3AC9E3C0-A3F0-C344-5500-31242F4CF7B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130858" y="1051440"/>
            <a:ext cx="1268314" cy="1268314"/>
          </a:xfrm>
          <a:prstGeom prst="rect">
            <a:avLst/>
          </a:prstGeom>
        </p:spPr>
      </p:pic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A6E4A966-4726-B771-6EAA-D9D6618FF821}"/>
              </a:ext>
            </a:extLst>
          </p:cNvPr>
          <p:cNvSpPr txBox="1"/>
          <p:nvPr/>
        </p:nvSpPr>
        <p:spPr>
          <a:xfrm>
            <a:off x="8932070" y="2156107"/>
            <a:ext cx="166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USER</a:t>
            </a:r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2A3B7F5B-E735-0020-4084-FFC0461FE38F}"/>
              </a:ext>
            </a:extLst>
          </p:cNvPr>
          <p:cNvCxnSpPr>
            <a:cxnSpLocks/>
          </p:cNvCxnSpPr>
          <p:nvPr/>
        </p:nvCxnSpPr>
        <p:spPr>
          <a:xfrm>
            <a:off x="9782298" y="2525439"/>
            <a:ext cx="0" cy="4613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438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95359-596A-6B1A-AB18-E7ED4C612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518A8E4-CE76-8CA2-44B9-D31A779E8ACC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A411F9-B560-389E-3EE6-3D086BDEF49F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E54B111-5BEA-DCFF-BF10-984562375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A0E5AB-9E09-A4EC-5F68-0B0B4BA5F404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14/22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ED4894-07BA-E910-E355-47BA7214A0E3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E99A2F-1C76-7EE5-4FDD-70BBD168D98C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noProof="0" dirty="0">
                <a:solidFill>
                  <a:schemeClr val="bg1"/>
                </a:solidFill>
              </a:rPr>
              <a:t>3. Application – Behavior Tree manager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F63802-7301-6274-E3D5-B8D8B324FF49}"/>
              </a:ext>
            </a:extLst>
          </p:cNvPr>
          <p:cNvCxnSpPr>
            <a:cxnSpLocks/>
          </p:cNvCxnSpPr>
          <p:nvPr/>
        </p:nvCxnSpPr>
        <p:spPr>
          <a:xfrm flipH="1">
            <a:off x="7049386" y="2046385"/>
            <a:ext cx="510363" cy="6542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utoShape 2" descr="Language SVG Vector Icon">
            <a:extLst>
              <a:ext uri="{FF2B5EF4-FFF2-40B4-BE49-F238E27FC236}">
                <a16:creationId xmlns:a16="http://schemas.microsoft.com/office/drawing/2014/main" id="{FF016487-1737-B105-8730-84EE6F1897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9549" y="274737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" name="Immagine 14" descr="Immagine che contiene Arte bambini, cerchio, Policromi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28B80BB2-337D-9689-E625-5330AC48D8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7706" y="1031772"/>
            <a:ext cx="2253402" cy="16688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C70754F-E435-868E-A655-BE2DB3FA32BE}"/>
              </a:ext>
            </a:extLst>
          </p:cNvPr>
          <p:cNvSpPr txBox="1"/>
          <p:nvPr/>
        </p:nvSpPr>
        <p:spPr>
          <a:xfrm>
            <a:off x="336823" y="1210630"/>
            <a:ext cx="55127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/>
              <a:t>A BT is a structure that follows an orderly logic of checking conditions and executing actions.</a:t>
            </a:r>
          </a:p>
          <a:p>
            <a:endParaRPr lang="en-US" sz="2400" dirty="0"/>
          </a:p>
          <a:p>
            <a:r>
              <a:rPr lang="en-US" sz="2400" dirty="0"/>
              <a:t>The BT manager triggers a tree based on the input received and handles execution in the system</a:t>
            </a: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8BACD7B0-CBA7-CCE0-0673-70FC14CBEA27}"/>
              </a:ext>
            </a:extLst>
          </p:cNvPr>
          <p:cNvSpPr/>
          <p:nvPr/>
        </p:nvSpPr>
        <p:spPr>
          <a:xfrm>
            <a:off x="7611714" y="2817008"/>
            <a:ext cx="510363" cy="4562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⟶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3D5501C-79D9-239F-D146-9824C7B51C52}"/>
              </a:ext>
            </a:extLst>
          </p:cNvPr>
          <p:cNvSpPr/>
          <p:nvPr/>
        </p:nvSpPr>
        <p:spPr>
          <a:xfrm>
            <a:off x="8920715" y="1862693"/>
            <a:ext cx="510363" cy="4562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?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0798D02-1596-E694-3DA4-33EC03938AA4}"/>
              </a:ext>
            </a:extLst>
          </p:cNvPr>
          <p:cNvSpPr txBox="1"/>
          <p:nvPr/>
        </p:nvSpPr>
        <p:spPr>
          <a:xfrm>
            <a:off x="8588828" y="1179690"/>
            <a:ext cx="1251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EFF867F5-C7F5-BD78-B695-8FFBCFF92B93}"/>
              </a:ext>
            </a:extLst>
          </p:cNvPr>
          <p:cNvSpPr/>
          <p:nvPr/>
        </p:nvSpPr>
        <p:spPr>
          <a:xfrm>
            <a:off x="6346693" y="3722983"/>
            <a:ext cx="910350" cy="86869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buoy found?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E0E57727-2128-4EA2-A810-8A497D608ED6}"/>
              </a:ext>
            </a:extLst>
          </p:cNvPr>
          <p:cNvSpPr/>
          <p:nvPr/>
        </p:nvSpPr>
        <p:spPr>
          <a:xfrm>
            <a:off x="7412055" y="3797090"/>
            <a:ext cx="909682" cy="69668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reach buoy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8EA09102-470D-BB67-CCC6-54C8CA6A5360}"/>
              </a:ext>
            </a:extLst>
          </p:cNvPr>
          <p:cNvSpPr/>
          <p:nvPr/>
        </p:nvSpPr>
        <p:spPr>
          <a:xfrm>
            <a:off x="8465875" y="3793748"/>
            <a:ext cx="909682" cy="69668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go around buoy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0556DD2D-29ED-98CA-CB14-1F029C340EB9}"/>
              </a:ext>
            </a:extLst>
          </p:cNvPr>
          <p:cNvSpPr/>
          <p:nvPr/>
        </p:nvSpPr>
        <p:spPr>
          <a:xfrm>
            <a:off x="10234413" y="4171749"/>
            <a:ext cx="510363" cy="45625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⟶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8B7299FD-5523-6D69-76EA-1D7EFAA0C5F4}"/>
              </a:ext>
            </a:extLst>
          </p:cNvPr>
          <p:cNvSpPr/>
          <p:nvPr/>
        </p:nvSpPr>
        <p:spPr>
          <a:xfrm>
            <a:off x="10038313" y="5163729"/>
            <a:ext cx="909682" cy="69668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reach buoy</a:t>
            </a:r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89C65A79-FF29-5422-DAD0-6505571C87CA}"/>
              </a:ext>
            </a:extLst>
          </p:cNvPr>
          <p:cNvSpPr/>
          <p:nvPr/>
        </p:nvSpPr>
        <p:spPr>
          <a:xfrm>
            <a:off x="11068403" y="5151833"/>
            <a:ext cx="909682" cy="69668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go around buoy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B95A65E9-770D-5147-79FE-72AF35671828}"/>
              </a:ext>
            </a:extLst>
          </p:cNvPr>
          <p:cNvSpPr/>
          <p:nvPr/>
        </p:nvSpPr>
        <p:spPr>
          <a:xfrm>
            <a:off x="9001105" y="5163729"/>
            <a:ext cx="909682" cy="69668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find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buoy</a:t>
            </a:r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973221C7-D82E-EF7B-DA9C-A8EFA172D530}"/>
              </a:ext>
            </a:extLst>
          </p:cNvPr>
          <p:cNvCxnSpPr>
            <a:cxnSpLocks/>
            <a:stCxn id="12" idx="2"/>
            <a:endCxn id="4" idx="0"/>
          </p:cNvCxnSpPr>
          <p:nvPr/>
        </p:nvCxnSpPr>
        <p:spPr>
          <a:xfrm flipH="1">
            <a:off x="7866896" y="2318950"/>
            <a:ext cx="1309001" cy="4980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524BA4E8-D630-EC7A-9CF8-0DCB1F2898A2}"/>
              </a:ext>
            </a:extLst>
          </p:cNvPr>
          <p:cNvCxnSpPr>
            <a:cxnSpLocks/>
            <a:stCxn id="12" idx="2"/>
            <a:endCxn id="26" idx="0"/>
          </p:cNvCxnSpPr>
          <p:nvPr/>
        </p:nvCxnSpPr>
        <p:spPr>
          <a:xfrm>
            <a:off x="9175897" y="2318950"/>
            <a:ext cx="1313698" cy="1852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C0C45872-B8CE-94D1-31D6-81F137C08EDC}"/>
              </a:ext>
            </a:extLst>
          </p:cNvPr>
          <p:cNvCxnSpPr>
            <a:cxnSpLocks/>
            <a:stCxn id="4" idx="2"/>
            <a:endCxn id="16" idx="7"/>
          </p:cNvCxnSpPr>
          <p:nvPr/>
        </p:nvCxnSpPr>
        <p:spPr>
          <a:xfrm flipH="1">
            <a:off x="7123725" y="3273265"/>
            <a:ext cx="743171" cy="5769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EB5D7125-40F3-CCC4-882B-B08E9EEC2243}"/>
              </a:ext>
            </a:extLst>
          </p:cNvPr>
          <p:cNvCxnSpPr>
            <a:cxnSpLocks/>
            <a:stCxn id="4" idx="2"/>
            <a:endCxn id="18" idx="0"/>
          </p:cNvCxnSpPr>
          <p:nvPr/>
        </p:nvCxnSpPr>
        <p:spPr>
          <a:xfrm>
            <a:off x="7866896" y="3273265"/>
            <a:ext cx="0" cy="5238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2 44">
            <a:extLst>
              <a:ext uri="{FF2B5EF4-FFF2-40B4-BE49-F238E27FC236}">
                <a16:creationId xmlns:a16="http://schemas.microsoft.com/office/drawing/2014/main" id="{FAF4E2D2-9593-BDB9-2BCA-64A08CB6F0FD}"/>
              </a:ext>
            </a:extLst>
          </p:cNvPr>
          <p:cNvCxnSpPr>
            <a:cxnSpLocks/>
            <a:stCxn id="4" idx="2"/>
            <a:endCxn id="19" idx="0"/>
          </p:cNvCxnSpPr>
          <p:nvPr/>
        </p:nvCxnSpPr>
        <p:spPr>
          <a:xfrm>
            <a:off x="7866896" y="3273265"/>
            <a:ext cx="1053820" cy="5204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4035BB38-F24E-345E-715C-F4988ABC8931}"/>
              </a:ext>
            </a:extLst>
          </p:cNvPr>
          <p:cNvCxnSpPr>
            <a:cxnSpLocks/>
            <a:stCxn id="26" idx="2"/>
            <a:endCxn id="30" idx="0"/>
          </p:cNvCxnSpPr>
          <p:nvPr/>
        </p:nvCxnSpPr>
        <p:spPr>
          <a:xfrm flipH="1">
            <a:off x="9455946" y="4628006"/>
            <a:ext cx="1033649" cy="535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2FA76C17-F54A-CC79-D669-64CFE0808A6C}"/>
              </a:ext>
            </a:extLst>
          </p:cNvPr>
          <p:cNvCxnSpPr>
            <a:cxnSpLocks/>
            <a:stCxn id="26" idx="2"/>
            <a:endCxn id="28" idx="0"/>
          </p:cNvCxnSpPr>
          <p:nvPr/>
        </p:nvCxnSpPr>
        <p:spPr>
          <a:xfrm>
            <a:off x="10489595" y="4628006"/>
            <a:ext cx="3559" cy="5357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59209483-EAEE-F566-684C-4EB053AE2094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>
            <a:off x="10489595" y="4628006"/>
            <a:ext cx="1033649" cy="5238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527E742-D158-8C15-86C4-65B19DD6F463}"/>
              </a:ext>
            </a:extLst>
          </p:cNvPr>
          <p:cNvSpPr txBox="1"/>
          <p:nvPr/>
        </p:nvSpPr>
        <p:spPr>
          <a:xfrm>
            <a:off x="7973059" y="1912469"/>
            <a:ext cx="10966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FALLBACK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F72B531-1A1F-D27B-AC03-BB27AD736C03}"/>
              </a:ext>
            </a:extLst>
          </p:cNvPr>
          <p:cNvSpPr txBox="1"/>
          <p:nvPr/>
        </p:nvSpPr>
        <p:spPr>
          <a:xfrm>
            <a:off x="10758504" y="4233541"/>
            <a:ext cx="10966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SEQUENCE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F58208E-BD7E-BB5B-22EE-7D132B59D86D}"/>
              </a:ext>
            </a:extLst>
          </p:cNvPr>
          <p:cNvSpPr txBox="1"/>
          <p:nvPr/>
        </p:nvSpPr>
        <p:spPr>
          <a:xfrm>
            <a:off x="6563886" y="2866573"/>
            <a:ext cx="10966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SEQUENCE</a:t>
            </a:r>
          </a:p>
        </p:txBody>
      </p:sp>
    </p:spTree>
    <p:extLst>
      <p:ext uri="{BB962C8B-B14F-4D97-AF65-F5344CB8AC3E}">
        <p14:creationId xmlns:p14="http://schemas.microsoft.com/office/powerpoint/2010/main" val="2989050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E283A-D867-5253-E284-FDD5E0361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4D05B5-2DB2-CCCB-3F9B-05384F27B203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47EA75-7A25-5FB6-5AF3-7E8A9A419826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220042C-B62D-F4D2-618E-5339774EE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59F26C-B5CF-25E7-5E81-389D5FBD9D40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15/22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9C305A-D37D-C36E-01C1-1D3EDB592EF9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0106BB-2498-1D2E-B4B9-E91365D1664A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3. </a:t>
            </a:r>
            <a:r>
              <a:rPr lang="en-US" sz="2400" b="1" noProof="0" dirty="0">
                <a:solidFill>
                  <a:schemeClr val="bg1"/>
                </a:solidFill>
              </a:rPr>
              <a:t>Application – SLM manager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7FF153C-58B6-95AF-46AA-7BDAA574D3DC}"/>
              </a:ext>
            </a:extLst>
          </p:cNvPr>
          <p:cNvSpPr txBox="1"/>
          <p:nvPr/>
        </p:nvSpPr>
        <p:spPr>
          <a:xfrm>
            <a:off x="359230" y="1153886"/>
            <a:ext cx="69809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SLM manager is the element that implements the approach on the system.</a:t>
            </a:r>
          </a:p>
          <a:p>
            <a:r>
              <a:rPr lang="en-US" sz="2400" dirty="0"/>
              <a:t>It is a link between the user and the BT manager.</a:t>
            </a:r>
          </a:p>
          <a:p>
            <a:endParaRPr lang="en-US" sz="2400" dirty="0"/>
          </a:p>
          <a:p>
            <a:r>
              <a:rPr lang="en-US" sz="2400" dirty="0"/>
              <a:t>It has three functions: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Retrieve mission info from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Uses the SLM to generate a plan, which is a sequence of mission name tags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Send one mission at a time to the BT manager</a:t>
            </a:r>
          </a:p>
        </p:txBody>
      </p:sp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EFD673E5-2936-9102-CA47-2ADFDDE0520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9579" y="998644"/>
            <a:ext cx="720001" cy="720001"/>
          </a:xfrm>
          <a:prstGeom prst="rect">
            <a:avLst/>
          </a:prstGeom>
        </p:spPr>
      </p:pic>
      <p:pic>
        <p:nvPicPr>
          <p:cNvPr id="17" name="Elemento grafico 16" descr="Gerarchia contorno">
            <a:extLst>
              <a:ext uri="{FF2B5EF4-FFF2-40B4-BE49-F238E27FC236}">
                <a16:creationId xmlns:a16="http://schemas.microsoft.com/office/drawing/2014/main" id="{B70631CC-5E8A-5C94-E7FE-ED386783066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95934" y="2531852"/>
            <a:ext cx="1187292" cy="1187292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236BB00D-DC5E-7065-5B3E-9808E283BF0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021913" y="3799758"/>
            <a:ext cx="907421" cy="907421"/>
          </a:xfrm>
          <a:prstGeom prst="rect">
            <a:avLst/>
          </a:prstGeom>
        </p:spPr>
      </p:pic>
      <p:pic>
        <p:nvPicPr>
          <p:cNvPr id="20" name="Picture 14" descr="Little Submarine icon | Freepik">
            <a:extLst>
              <a:ext uri="{FF2B5EF4-FFF2-40B4-BE49-F238E27FC236}">
                <a16:creationId xmlns:a16="http://schemas.microsoft.com/office/drawing/2014/main" id="{B213F8E3-9627-AA48-F9E3-BD06F7C48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305" y="4885085"/>
            <a:ext cx="919156" cy="919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D0ED0167-9416-6714-FC31-CA59C281BB13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82293" y="3854818"/>
            <a:ext cx="852361" cy="852361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80D5DA4-8756-44B3-0372-6CEA4D1445D9}"/>
              </a:ext>
            </a:extLst>
          </p:cNvPr>
          <p:cNvSpPr txBox="1"/>
          <p:nvPr/>
        </p:nvSpPr>
        <p:spPr>
          <a:xfrm>
            <a:off x="8974040" y="1680526"/>
            <a:ext cx="1431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CHAT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CFE04F1-055A-17C6-D0A6-2F216FE37119}"/>
              </a:ext>
            </a:extLst>
          </p:cNvPr>
          <p:cNvSpPr txBox="1"/>
          <p:nvPr/>
        </p:nvSpPr>
        <p:spPr>
          <a:xfrm>
            <a:off x="8948347" y="3615092"/>
            <a:ext cx="1431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SLM MANAGER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C3614CDD-B8C6-CC34-83AB-80E673D18130}"/>
              </a:ext>
            </a:extLst>
          </p:cNvPr>
          <p:cNvSpPr txBox="1"/>
          <p:nvPr/>
        </p:nvSpPr>
        <p:spPr>
          <a:xfrm>
            <a:off x="10717755" y="4788676"/>
            <a:ext cx="1431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BT MANAGER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FA253EE-F240-F13B-33C5-678A8497014F}"/>
              </a:ext>
            </a:extLst>
          </p:cNvPr>
          <p:cNvSpPr txBox="1"/>
          <p:nvPr/>
        </p:nvSpPr>
        <p:spPr>
          <a:xfrm>
            <a:off x="7392934" y="4729255"/>
            <a:ext cx="1431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MISSION</a:t>
            </a:r>
            <a:br>
              <a:rPr lang="en-GB" b="1" dirty="0"/>
            </a:br>
            <a:r>
              <a:rPr lang="en-GB" b="1" dirty="0"/>
              <a:t>INFO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3B11D953-83FA-64BC-CB08-11B1A0C8344B}"/>
              </a:ext>
            </a:extLst>
          </p:cNvPr>
          <p:cNvSpPr txBox="1"/>
          <p:nvPr/>
        </p:nvSpPr>
        <p:spPr>
          <a:xfrm>
            <a:off x="8339805" y="5619575"/>
            <a:ext cx="309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AUV CONTROL SYSTEM</a:t>
            </a:r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DC98EF17-CF63-72D7-E3C1-AC9B99967DC9}"/>
              </a:ext>
            </a:extLst>
          </p:cNvPr>
          <p:cNvCxnSpPr>
            <a:cxnSpLocks/>
          </p:cNvCxnSpPr>
          <p:nvPr/>
        </p:nvCxnSpPr>
        <p:spPr>
          <a:xfrm>
            <a:off x="10419340" y="3416887"/>
            <a:ext cx="562657" cy="3927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68C40B6F-7EF0-C811-B735-86D12637C662}"/>
              </a:ext>
            </a:extLst>
          </p:cNvPr>
          <p:cNvCxnSpPr>
            <a:cxnSpLocks/>
          </p:cNvCxnSpPr>
          <p:nvPr/>
        </p:nvCxnSpPr>
        <p:spPr>
          <a:xfrm flipV="1">
            <a:off x="8438609" y="3506376"/>
            <a:ext cx="509738" cy="4318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75D131B4-522D-6B7C-314C-6ABF8C84E78C}"/>
              </a:ext>
            </a:extLst>
          </p:cNvPr>
          <p:cNvCxnSpPr>
            <a:cxnSpLocks/>
            <a:stCxn id="22" idx="2"/>
            <a:endCxn id="17" idx="0"/>
          </p:cNvCxnSpPr>
          <p:nvPr/>
        </p:nvCxnSpPr>
        <p:spPr>
          <a:xfrm>
            <a:off x="9689579" y="2049858"/>
            <a:ext cx="1" cy="4819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1B043600-6DDC-7916-2A7B-0D7A1B80CBE5}"/>
              </a:ext>
            </a:extLst>
          </p:cNvPr>
          <p:cNvCxnSpPr>
            <a:cxnSpLocks/>
          </p:cNvCxnSpPr>
          <p:nvPr/>
        </p:nvCxnSpPr>
        <p:spPr>
          <a:xfrm flipH="1">
            <a:off x="10283226" y="4786276"/>
            <a:ext cx="622235" cy="4613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7953DCC9-0E1E-4F2A-71EB-BE015FD03CC2}"/>
              </a:ext>
            </a:extLst>
          </p:cNvPr>
          <p:cNvCxnSpPr>
            <a:cxnSpLocks/>
          </p:cNvCxnSpPr>
          <p:nvPr/>
        </p:nvCxnSpPr>
        <p:spPr>
          <a:xfrm flipH="1" flipV="1">
            <a:off x="8693478" y="4672747"/>
            <a:ext cx="633175" cy="4045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691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D3950-DB4C-0235-9A7A-93F0DB3DE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BEC725F-4082-4160-99F3-D312596357DF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74A300-B55E-5B4D-5786-BF0B636FAAF1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47AD00E-51AF-A292-95E7-F5ABA493F4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F76B5D-4FDC-2430-FB77-96E9338D26CC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13CB702-05D4-B8C8-87CA-B2C63C084481}"/>
              </a:ext>
            </a:extLst>
          </p:cNvPr>
          <p:cNvSpPr txBox="1"/>
          <p:nvPr/>
        </p:nvSpPr>
        <p:spPr>
          <a:xfrm>
            <a:off x="473342" y="997011"/>
            <a:ext cx="11580435" cy="6001643"/>
          </a:xfrm>
          <a:prstGeom prst="rect">
            <a:avLst/>
          </a:prstGeom>
          <a:noFill/>
        </p:spPr>
        <p:txBody>
          <a:bodyPr wrap="square" numCol="2" rtlCol="0" anchor="ctr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Problem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Recent research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Approach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Context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Confidence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Failure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Model 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Application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Behavior Tree manager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SLM manager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/>
              <a:t>Results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/>
              <a:t>Training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/>
              <a:t>Confidence and Correctness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/>
              <a:t>Experiments in simulation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253574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D3222-2D3B-1ED3-D2A9-5C6EBE29E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0AB84-7B93-3275-7F27-D8BDB38EBEEE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714300-7321-D433-2CFF-3B676C42EA3B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4F4EB8A-8936-A85B-36CA-E3452AB1A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AF5F83-2D24-382D-E2A8-ECDE887D970D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16/22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0D68DD-E339-2341-D788-A9DF9016ACAD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878923-560D-837F-CCBB-5243FF25CFBA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4</a:t>
            </a:r>
            <a:r>
              <a:rPr lang="en-US" sz="2400" noProof="0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Results – Training</a:t>
            </a:r>
            <a:endParaRPr lang="en-US" sz="2400" b="1" noProof="0" dirty="0">
              <a:solidFill>
                <a:schemeClr val="bg1"/>
              </a:solidFill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612FE77E-5DC3-CE40-9CC0-8146EC5FBE57}"/>
              </a:ext>
            </a:extLst>
          </p:cNvPr>
          <p:cNvSpPr txBox="1"/>
          <p:nvPr/>
        </p:nvSpPr>
        <p:spPr>
          <a:xfrm>
            <a:off x="413657" y="851908"/>
            <a:ext cx="568234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example = [ input, target ]</a:t>
            </a:r>
          </a:p>
          <a:p>
            <a:endParaRPr lang="en-US" b="1" dirty="0"/>
          </a:p>
          <a:p>
            <a:r>
              <a:rPr lang="en-US" b="1" dirty="0"/>
              <a:t>Input</a:t>
            </a:r>
            <a:r>
              <a:rPr lang="en-US" dirty="0"/>
              <a:t> = possible prompt</a:t>
            </a:r>
          </a:p>
          <a:p>
            <a:endParaRPr lang="en-US" dirty="0"/>
          </a:p>
          <a:p>
            <a:r>
              <a:rPr lang="en-US" b="1" dirty="0"/>
              <a:t>Target</a:t>
            </a:r>
            <a:r>
              <a:rPr lang="en-US" dirty="0"/>
              <a:t> = desired model response to input</a:t>
            </a:r>
          </a:p>
          <a:p>
            <a:endParaRPr lang="en-US" b="1" dirty="0"/>
          </a:p>
          <a:p>
            <a:r>
              <a:rPr lang="en-US" b="1" dirty="0"/>
              <a:t>A training example may be</a:t>
            </a:r>
            <a:r>
              <a:rPr lang="en-US" dirty="0"/>
              <a:t>:</a:t>
            </a:r>
          </a:p>
          <a:p>
            <a:r>
              <a:rPr lang="en-US" b="1" dirty="0"/>
              <a:t>Input </a:t>
            </a:r>
            <a:r>
              <a:rPr lang="en-US" dirty="0"/>
              <a:t>=</a:t>
            </a:r>
          </a:p>
          <a:p>
            <a:r>
              <a:rPr lang="en-US" dirty="0"/>
              <a:t>Available missions: …</a:t>
            </a:r>
          </a:p>
          <a:p>
            <a:r>
              <a:rPr lang="en-US" dirty="0"/>
              <a:t>Memory: Buoys found so far: … Previous missions: …</a:t>
            </a:r>
          </a:p>
          <a:p>
            <a:r>
              <a:rPr lang="en-US" dirty="0"/>
              <a:t>Command: see what you can find in the buoy area</a:t>
            </a:r>
          </a:p>
          <a:p>
            <a:r>
              <a:rPr lang="en-US" dirty="0"/>
              <a:t>Instruction: Generate a response…</a:t>
            </a:r>
          </a:p>
          <a:p>
            <a:r>
              <a:rPr lang="en-US" b="1" dirty="0"/>
              <a:t>Target</a:t>
            </a:r>
            <a:r>
              <a:rPr lang="en-US" dirty="0"/>
              <a:t> = “map buoy area A”</a:t>
            </a:r>
          </a:p>
          <a:p>
            <a:endParaRPr lang="en-US" dirty="0"/>
          </a:p>
          <a:p>
            <a:r>
              <a:rPr lang="en-US" b="1" dirty="0"/>
              <a:t>In a testing example only the command changes, using more complex sentence</a:t>
            </a:r>
            <a:r>
              <a:rPr lang="en-US" dirty="0"/>
              <a:t>:</a:t>
            </a:r>
          </a:p>
          <a:p>
            <a:r>
              <a:rPr lang="en-US" dirty="0"/>
              <a:t>Command: document the </a:t>
            </a:r>
            <a:r>
              <a:rPr lang="en-US" dirty="0" err="1"/>
              <a:t>coloured</a:t>
            </a:r>
            <a:r>
              <a:rPr lang="en-US" dirty="0"/>
              <a:t> buoy area by providing a precise geo-</a:t>
            </a:r>
            <a:r>
              <a:rPr lang="en-US" dirty="0" err="1"/>
              <a:t>localised</a:t>
            </a:r>
            <a:r>
              <a:rPr lang="en-US" dirty="0"/>
              <a:t> map with marked buoy location coordinates</a:t>
            </a:r>
          </a:p>
          <a:p>
            <a:endParaRPr lang="en-US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D6880A4-946C-3E10-CE6A-6753D2272FEA}"/>
              </a:ext>
            </a:extLst>
          </p:cNvPr>
          <p:cNvSpPr txBox="1"/>
          <p:nvPr/>
        </p:nvSpPr>
        <p:spPr>
          <a:xfrm>
            <a:off x="6096000" y="826727"/>
            <a:ext cx="568234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Some examples include clarification situations:</a:t>
            </a:r>
          </a:p>
          <a:p>
            <a:r>
              <a:rPr lang="en-US" b="1" dirty="0"/>
              <a:t>Input</a:t>
            </a:r>
            <a:r>
              <a:rPr lang="en-US" dirty="0"/>
              <a:t> = …</a:t>
            </a:r>
          </a:p>
          <a:p>
            <a:r>
              <a:rPr lang="en-US" dirty="0"/>
              <a:t>Previous response: “make move A”</a:t>
            </a:r>
          </a:p>
          <a:p>
            <a:r>
              <a:rPr lang="en-US" dirty="0"/>
              <a:t>Clarification: “just find the buoys”</a:t>
            </a:r>
          </a:p>
          <a:p>
            <a:r>
              <a:rPr lang="en-US" b="1" dirty="0"/>
              <a:t>Target</a:t>
            </a:r>
            <a:r>
              <a:rPr lang="en-US" dirty="0"/>
              <a:t> = “map buoy area A”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Others include failure situations:</a:t>
            </a:r>
          </a:p>
          <a:p>
            <a:r>
              <a:rPr lang="en-US" b="1" dirty="0"/>
              <a:t>Input</a:t>
            </a:r>
            <a:r>
              <a:rPr lang="en-US" dirty="0"/>
              <a:t> = …</a:t>
            </a:r>
          </a:p>
          <a:p>
            <a:r>
              <a:rPr lang="en-US" dirty="0"/>
              <a:t>Failure context: plan A failed, no buoys found</a:t>
            </a:r>
          </a:p>
          <a:p>
            <a:r>
              <a:rPr lang="en-US" b="1" dirty="0"/>
              <a:t>Target</a:t>
            </a:r>
            <a:r>
              <a:rPr lang="en-US" dirty="0"/>
              <a:t> = “map buoy area B”</a:t>
            </a:r>
          </a:p>
          <a:p>
            <a:endParaRPr lang="en-US" dirty="0"/>
          </a:p>
          <a:p>
            <a:r>
              <a:rPr lang="en-US" b="1" dirty="0"/>
              <a:t>Other include incapacity awareness:</a:t>
            </a:r>
          </a:p>
          <a:p>
            <a:r>
              <a:rPr lang="en-US" b="1" dirty="0"/>
              <a:t>Input</a:t>
            </a:r>
            <a:r>
              <a:rPr lang="en-US" dirty="0"/>
              <a:t> = …</a:t>
            </a:r>
          </a:p>
          <a:p>
            <a:r>
              <a:rPr lang="en-US" dirty="0"/>
              <a:t>Command = Find the red marker</a:t>
            </a:r>
            <a:br>
              <a:rPr lang="en-US" dirty="0"/>
            </a:br>
            <a:r>
              <a:rPr lang="en-US" dirty="0"/>
              <a:t>…</a:t>
            </a:r>
          </a:p>
          <a:p>
            <a:r>
              <a:rPr lang="en-US" b="1" dirty="0"/>
              <a:t>Target</a:t>
            </a:r>
            <a:r>
              <a:rPr lang="en-US" dirty="0"/>
              <a:t> = “skip”</a:t>
            </a:r>
          </a:p>
          <a:p>
            <a:r>
              <a:rPr lang="en-US" dirty="0"/>
              <a:t>(It means the system cannot do it)</a:t>
            </a:r>
          </a:p>
        </p:txBody>
      </p:sp>
    </p:spTree>
    <p:extLst>
      <p:ext uri="{BB962C8B-B14F-4D97-AF65-F5344CB8AC3E}">
        <p14:creationId xmlns:p14="http://schemas.microsoft.com/office/powerpoint/2010/main" val="3830248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A5FA0-9437-01A2-73E5-FE797A52B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4B57A90-E0F5-6BC1-BE77-462D86DE96D7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F82E47-D064-A9CE-3816-2BD7DB181AF6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1D42B67-84C3-BDC1-C244-4E1D20291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014ECD-241A-AB73-EDE5-5E5466D93DC3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17/22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64D13E-9D24-E88C-D1BD-01A79F096FC8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670299-F3B3-C94A-E135-AB1332A226B5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4</a:t>
            </a:r>
            <a:r>
              <a:rPr lang="en-US" sz="2400" noProof="0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Results – Training</a:t>
            </a:r>
            <a:endParaRPr lang="en-US" sz="2400" b="1" noProof="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24C9F8-E6C0-EA6A-24DB-20C27E2347CC}"/>
              </a:ext>
            </a:extLst>
          </p:cNvPr>
          <p:cNvSpPr txBox="1"/>
          <p:nvPr/>
        </p:nvSpPr>
        <p:spPr>
          <a:xfrm>
            <a:off x="8780722" y="4611561"/>
            <a:ext cx="258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Posidonia Oceanica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50C264F-77D9-2123-4E90-BECA945E8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0520" y="926199"/>
            <a:ext cx="3687194" cy="5005601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862FA45-A038-E25A-66BA-E5CE8EBACB1F}"/>
              </a:ext>
            </a:extLst>
          </p:cNvPr>
          <p:cNvSpPr txBox="1"/>
          <p:nvPr/>
        </p:nvSpPr>
        <p:spPr>
          <a:xfrm>
            <a:off x="337457" y="1295400"/>
            <a:ext cx="720634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Important metrics: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Training loss: Metric to minimize for model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Validation loss:  Same metric calculated to ensure proper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Sequence accuracy: This metric tells us if the model classifies the example exactly with its label</a:t>
            </a:r>
          </a:p>
        </p:txBody>
      </p:sp>
    </p:spTree>
    <p:extLst>
      <p:ext uri="{BB962C8B-B14F-4D97-AF65-F5344CB8AC3E}">
        <p14:creationId xmlns:p14="http://schemas.microsoft.com/office/powerpoint/2010/main" val="362941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38608-C686-63C3-3213-E9501AC0C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D51309B-D708-E289-F601-CD8C906A32E3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9F56B6-F69B-A7D7-E102-D20B4830A9EF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EC47ED4-A6C2-6B56-9BDB-85A5639EE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255723-2721-D382-CDE7-C33A1C03C8F6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18/22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A6A7A0-1DA3-FF0E-D1C8-AD8EE4E80D64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766CFA-5134-AC25-A4C5-9AAC2B76EEDC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4</a:t>
            </a:r>
            <a:r>
              <a:rPr lang="en-US" sz="2400" noProof="0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Results – Confidence and Correctness</a:t>
            </a:r>
            <a:endParaRPr lang="en-US" sz="2400" b="1" noProof="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B61221-5301-AFBF-F891-50703062421C}"/>
              </a:ext>
            </a:extLst>
          </p:cNvPr>
          <p:cNvSpPr txBox="1"/>
          <p:nvPr/>
        </p:nvSpPr>
        <p:spPr>
          <a:xfrm>
            <a:off x="8780722" y="4611561"/>
            <a:ext cx="258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Posidonia Oceanica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3CBEE91-2530-14D6-C6D6-FDD067AD81EA}"/>
              </a:ext>
            </a:extLst>
          </p:cNvPr>
          <p:cNvSpPr txBox="1"/>
          <p:nvPr/>
        </p:nvSpPr>
        <p:spPr>
          <a:xfrm>
            <a:off x="138222" y="983177"/>
            <a:ext cx="633877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testing dataset was used to validate model effectiveness and confidence scores were computed for each testing example: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examples, 97.6%, are correctly classified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average SRC score is not reliable, because it is not related to the correctness of the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average OC score is within 2% of difference with the percentage of correctly classified example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average OC score for incorrectly classified examples is 20%  lower than for correctly classified examples, meaning the threshold can be adjusted to make the system work properly</a:t>
            </a:r>
          </a:p>
        </p:txBody>
      </p:sp>
      <p:graphicFrame>
        <p:nvGraphicFramePr>
          <p:cNvPr id="16" name="Grafico 15">
            <a:extLst>
              <a:ext uri="{FF2B5EF4-FFF2-40B4-BE49-F238E27FC236}">
                <a16:creationId xmlns:a16="http://schemas.microsoft.com/office/drawing/2014/main" id="{FE2BD654-981B-BAA0-963B-CC52546B4552}"/>
              </a:ext>
            </a:extLst>
          </p:cNvPr>
          <p:cNvGraphicFramePr/>
          <p:nvPr/>
        </p:nvGraphicFramePr>
        <p:xfrm>
          <a:off x="6760027" y="983177"/>
          <a:ext cx="5127174" cy="2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Grafico 16">
            <a:extLst>
              <a:ext uri="{FF2B5EF4-FFF2-40B4-BE49-F238E27FC236}">
                <a16:creationId xmlns:a16="http://schemas.microsoft.com/office/drawing/2014/main" id="{19260FCE-1E4B-F460-62FB-8894A03FFF85}"/>
              </a:ext>
            </a:extLst>
          </p:cNvPr>
          <p:cNvGraphicFramePr/>
          <p:nvPr/>
        </p:nvGraphicFramePr>
        <p:xfrm>
          <a:off x="6760027" y="3153002"/>
          <a:ext cx="5127174" cy="2810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29059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B1E9D-133E-06FC-BC75-6CC8C19B0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48B1E7-C0B2-A3EA-2F7E-43C5923D8888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B8C50E-D9E4-C149-9E7D-C795A32EE67C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162A11D-B9C5-367F-5541-8C946FC194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F02425-440C-D53B-E968-DA63EB1249DF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19/22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E30720-CC29-0C5C-BBEA-E4B20BB23D62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923945-F6AB-EE2B-A447-B4218044D18B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4</a:t>
            </a:r>
            <a:r>
              <a:rPr lang="en-US" sz="2400" noProof="0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Results – Experiments in simulation</a:t>
            </a:r>
            <a:endParaRPr lang="en-US" sz="2400" b="1" noProof="0" dirty="0">
              <a:solidFill>
                <a:schemeClr val="bg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0E13FD6-ECDB-4423-08CB-AD7C7CD7751E}"/>
              </a:ext>
            </a:extLst>
          </p:cNvPr>
          <p:cNvCxnSpPr>
            <a:cxnSpLocks/>
          </p:cNvCxnSpPr>
          <p:nvPr/>
        </p:nvCxnSpPr>
        <p:spPr>
          <a:xfrm flipH="1">
            <a:off x="7049386" y="2046385"/>
            <a:ext cx="510363" cy="6542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5EE5E72-0E94-2C98-F397-E62137AB1A19}"/>
              </a:ext>
            </a:extLst>
          </p:cNvPr>
          <p:cNvSpPr txBox="1"/>
          <p:nvPr/>
        </p:nvSpPr>
        <p:spPr>
          <a:xfrm>
            <a:off x="0" y="874917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SLM MANAGER</a:t>
            </a:r>
            <a:r>
              <a:rPr lang="en-US" sz="2400" dirty="0"/>
              <a:t> VS </a:t>
            </a:r>
            <a:r>
              <a:rPr lang="en-US" sz="2400" b="1" dirty="0"/>
              <a:t>RULE-BASED</a:t>
            </a:r>
            <a:r>
              <a:rPr lang="en-US" sz="2400" dirty="0"/>
              <a:t> USAGE</a:t>
            </a:r>
            <a:br>
              <a:rPr lang="en-US" sz="2400" dirty="0"/>
            </a:br>
            <a:r>
              <a:rPr lang="en-US" sz="2000" dirty="0"/>
              <a:t>(Rule-based usage consists in sending missions manually to BT manager)</a:t>
            </a:r>
            <a:endParaRPr lang="en-US" sz="2400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9891A080-2013-7294-123F-A6EA9EE098DF}"/>
              </a:ext>
            </a:extLst>
          </p:cNvPr>
          <p:cNvSpPr txBox="1"/>
          <p:nvPr/>
        </p:nvSpPr>
        <p:spPr>
          <a:xfrm>
            <a:off x="214427" y="1757743"/>
            <a:ext cx="5957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Performance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F8797D77-01D8-1B78-48B4-FE843F5F4A9A}"/>
              </a:ext>
            </a:extLst>
          </p:cNvPr>
          <p:cNvSpPr txBox="1"/>
          <p:nvPr/>
        </p:nvSpPr>
        <p:spPr>
          <a:xfrm>
            <a:off x="138223" y="2257419"/>
            <a:ext cx="595777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Success rate is the percentage of completed missions out of the total in each session of tests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SLM manager uses the BT manager, possibly introducing new errors, so at best it can be as performant as the rule-based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Computational resources usage is measured</a:t>
            </a:r>
          </a:p>
          <a:p>
            <a:endParaRPr lang="en-US" dirty="0"/>
          </a:p>
          <a:p>
            <a:r>
              <a:rPr lang="en-US" dirty="0"/>
              <a:t>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Success rate is almost the same for both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SLM manager is deployable on the AUV</a:t>
            </a:r>
          </a:p>
        </p:txBody>
      </p:sp>
      <p:graphicFrame>
        <p:nvGraphicFramePr>
          <p:cNvPr id="15" name="Grafico 14">
            <a:extLst>
              <a:ext uri="{FF2B5EF4-FFF2-40B4-BE49-F238E27FC236}">
                <a16:creationId xmlns:a16="http://schemas.microsoft.com/office/drawing/2014/main" id="{C1B631DA-4CE5-2191-CB43-F970DAC912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3390611"/>
              </p:ext>
            </p:extLst>
          </p:nvPr>
        </p:nvGraphicFramePr>
        <p:xfrm>
          <a:off x="7687760" y="1815612"/>
          <a:ext cx="4177669" cy="1820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Grafico 22">
            <a:extLst>
              <a:ext uri="{FF2B5EF4-FFF2-40B4-BE49-F238E27FC236}">
                <a16:creationId xmlns:a16="http://schemas.microsoft.com/office/drawing/2014/main" id="{3B8A5622-60BA-21CB-378D-331A0207DD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8917429"/>
              </p:ext>
            </p:extLst>
          </p:nvPr>
        </p:nvGraphicFramePr>
        <p:xfrm>
          <a:off x="6096000" y="3918858"/>
          <a:ext cx="2476378" cy="2216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5" name="Grafico 24">
            <a:extLst>
              <a:ext uri="{FF2B5EF4-FFF2-40B4-BE49-F238E27FC236}">
                <a16:creationId xmlns:a16="http://schemas.microsoft.com/office/drawing/2014/main" id="{A14824EC-1662-ADF8-4EED-FB566A90A1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8569207"/>
              </p:ext>
            </p:extLst>
          </p:nvPr>
        </p:nvGraphicFramePr>
        <p:xfrm>
          <a:off x="9100456" y="3918856"/>
          <a:ext cx="2764973" cy="2216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4939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20EFF-9273-B971-2B13-1BC7E1A1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B48F11B-FD3E-9763-DD77-FCF6447CAB05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312591-B711-632F-8F16-DAFB130420AD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D290C3D-A25D-8210-24FB-3E6EA65794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207A99-C0EE-8EA2-519A-253FCB2816AF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20/22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24D4F-58AB-2BC4-896D-BC84E2C57E57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B569E6-9973-C3B6-D8E0-14364260207D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4</a:t>
            </a:r>
            <a:r>
              <a:rPr lang="en-US" sz="2400" noProof="0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Results – Experiments in simulation</a:t>
            </a:r>
            <a:endParaRPr lang="en-US" sz="2400" b="1" noProof="0" dirty="0">
              <a:solidFill>
                <a:schemeClr val="bg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F065899-C825-DE90-F91E-F69D0524E35A}"/>
              </a:ext>
            </a:extLst>
          </p:cNvPr>
          <p:cNvCxnSpPr>
            <a:cxnSpLocks/>
          </p:cNvCxnSpPr>
          <p:nvPr/>
        </p:nvCxnSpPr>
        <p:spPr>
          <a:xfrm flipH="1">
            <a:off x="7049386" y="2046385"/>
            <a:ext cx="510363" cy="6542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12119D3-2D5F-F6D5-D2F9-CC9C42EB6B24}"/>
              </a:ext>
            </a:extLst>
          </p:cNvPr>
          <p:cNvSpPr txBox="1"/>
          <p:nvPr/>
        </p:nvSpPr>
        <p:spPr>
          <a:xfrm>
            <a:off x="0" y="874917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SLM MANAGER</a:t>
            </a:r>
            <a:r>
              <a:rPr lang="en-US" sz="2400" dirty="0"/>
              <a:t> VS </a:t>
            </a:r>
            <a:r>
              <a:rPr lang="en-US" sz="2400" b="1" dirty="0"/>
              <a:t>RULE-BASED</a:t>
            </a:r>
            <a:r>
              <a:rPr lang="en-US" sz="2400" dirty="0"/>
              <a:t> USAGE</a:t>
            </a:r>
            <a:br>
              <a:rPr lang="en-US" sz="2400" dirty="0"/>
            </a:br>
            <a:r>
              <a:rPr lang="en-US" sz="2000" dirty="0"/>
              <a:t>(Rule-based usage consists in sending missions manually to BT manager)</a:t>
            </a:r>
            <a:endParaRPr lang="en-US" sz="2400" dirty="0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CA5E423A-75F5-098C-827E-935062931F8B}"/>
              </a:ext>
            </a:extLst>
          </p:cNvPr>
          <p:cNvSpPr txBox="1"/>
          <p:nvPr/>
        </p:nvSpPr>
        <p:spPr>
          <a:xfrm>
            <a:off x="81069" y="1687287"/>
            <a:ext cx="5881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User accessibility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CC9937EF-C93B-0363-009A-017EFCE2066D}"/>
              </a:ext>
            </a:extLst>
          </p:cNvPr>
          <p:cNvSpPr txBox="1"/>
          <p:nvPr/>
        </p:nvSpPr>
        <p:spPr>
          <a:xfrm>
            <a:off x="214428" y="2167642"/>
            <a:ext cx="58815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text describing all tasks to complete is given to five operators who know nothing about the mission or how the system 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operators are asked to used both systems to complete all the task and to stop when they think they are done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Chat GPT was used to simulate the operators</a:t>
            </a:r>
          </a:p>
          <a:p>
            <a:endParaRPr lang="en-US" dirty="0"/>
          </a:p>
          <a:p>
            <a:r>
              <a:rPr lang="en-US" dirty="0"/>
              <a:t>Results:</a:t>
            </a:r>
          </a:p>
          <a:p>
            <a:r>
              <a:rPr lang="en-US" b="1" dirty="0"/>
              <a:t>Using the SLM manager led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Comprehension errors decreased of 87%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Number of missions performed (command issued) to complete the tasks decreased of 40% (61%)</a:t>
            </a:r>
          </a:p>
          <a:p>
            <a:endParaRPr lang="en-US" dirty="0"/>
          </a:p>
        </p:txBody>
      </p:sp>
      <p:graphicFrame>
        <p:nvGraphicFramePr>
          <p:cNvPr id="12" name="Grafico 11">
            <a:extLst>
              <a:ext uri="{FF2B5EF4-FFF2-40B4-BE49-F238E27FC236}">
                <a16:creationId xmlns:a16="http://schemas.microsoft.com/office/drawing/2014/main" id="{A75889E0-8DF7-B2C9-31E7-1D3F52758C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5154273"/>
              </p:ext>
            </p:extLst>
          </p:nvPr>
        </p:nvGraphicFramePr>
        <p:xfrm>
          <a:off x="7135375" y="1710632"/>
          <a:ext cx="3770086" cy="2284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Grafico 12">
            <a:extLst>
              <a:ext uri="{FF2B5EF4-FFF2-40B4-BE49-F238E27FC236}">
                <a16:creationId xmlns:a16="http://schemas.microsoft.com/office/drawing/2014/main" id="{51C2FB2E-A49F-95E7-7181-1CDED0CAD5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0408092"/>
              </p:ext>
            </p:extLst>
          </p:nvPr>
        </p:nvGraphicFramePr>
        <p:xfrm>
          <a:off x="7135375" y="4042852"/>
          <a:ext cx="3770086" cy="2191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918359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5C6D4-AF0C-ED0A-989C-C5CE4338B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0A3E70-366E-AB3C-E370-FE6D0CAA9960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7EDA6D-E21C-3719-39E5-DB732FCC9AAB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907F6FE-7DA2-9732-9D48-04B5200A9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533A5B-11DA-1DA2-01B3-3FFADC754D75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21/22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41700F-C9AB-2FCF-E0B8-0E061DC82C7E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B3B18E-68B6-FFBC-E297-540C59178428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4</a:t>
            </a:r>
            <a:r>
              <a:rPr lang="en-US" sz="2400" noProof="0" dirty="0">
                <a:solidFill>
                  <a:schemeClr val="bg1"/>
                </a:solidFill>
              </a:rPr>
              <a:t>. </a:t>
            </a:r>
            <a:r>
              <a:rPr lang="en-US" sz="2400" b="1" dirty="0">
                <a:solidFill>
                  <a:schemeClr val="bg1"/>
                </a:solidFill>
              </a:rPr>
              <a:t>Results – Experiments in simulation</a:t>
            </a:r>
            <a:endParaRPr lang="en-US" sz="2400" b="1" noProof="0" dirty="0">
              <a:solidFill>
                <a:schemeClr val="bg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EFBEFF-C460-379D-D28F-729BE6701E3C}"/>
              </a:ext>
            </a:extLst>
          </p:cNvPr>
          <p:cNvCxnSpPr>
            <a:cxnSpLocks/>
          </p:cNvCxnSpPr>
          <p:nvPr/>
        </p:nvCxnSpPr>
        <p:spPr>
          <a:xfrm flipH="1">
            <a:off x="7049386" y="2046385"/>
            <a:ext cx="510363" cy="6542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EB8E575-F955-F1D7-0214-F4E718DF63EE}"/>
              </a:ext>
            </a:extLst>
          </p:cNvPr>
          <p:cNvSpPr txBox="1"/>
          <p:nvPr/>
        </p:nvSpPr>
        <p:spPr>
          <a:xfrm>
            <a:off x="86132" y="896384"/>
            <a:ext cx="121109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User accessibility example</a:t>
            </a:r>
          </a:p>
          <a:p>
            <a:pPr algn="ctr"/>
            <a:r>
              <a:rPr lang="en-US" sz="2400" dirty="0"/>
              <a:t>Operator 4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4EDE7AE-724F-D552-F97A-781AAE61ED7B}"/>
              </a:ext>
            </a:extLst>
          </p:cNvPr>
          <p:cNvSpPr txBox="1"/>
          <p:nvPr/>
        </p:nvSpPr>
        <p:spPr>
          <a:xfrm>
            <a:off x="3556852" y="1864324"/>
            <a:ext cx="344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Rule-based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9DFFEFA-0370-22F0-9B29-207CAC17746A}"/>
              </a:ext>
            </a:extLst>
          </p:cNvPr>
          <p:cNvSpPr txBox="1"/>
          <p:nvPr/>
        </p:nvSpPr>
        <p:spPr>
          <a:xfrm>
            <a:off x="8356939" y="1852005"/>
            <a:ext cx="3443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SLM Manager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0D2273D7-EC78-2A7F-EE2C-7B7B938A3587}"/>
              </a:ext>
            </a:extLst>
          </p:cNvPr>
          <p:cNvCxnSpPr>
            <a:cxnSpLocks/>
          </p:cNvCxnSpPr>
          <p:nvPr/>
        </p:nvCxnSpPr>
        <p:spPr>
          <a:xfrm>
            <a:off x="7750629" y="1893589"/>
            <a:ext cx="0" cy="41188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5BC2606A-B467-0DB1-0C34-D3B6D9AC4EBF}"/>
              </a:ext>
            </a:extLst>
          </p:cNvPr>
          <p:cNvCxnSpPr>
            <a:cxnSpLocks/>
          </p:cNvCxnSpPr>
          <p:nvPr/>
        </p:nvCxnSpPr>
        <p:spPr>
          <a:xfrm>
            <a:off x="3194572" y="1904475"/>
            <a:ext cx="0" cy="41188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D48B9DC-50AE-473B-9C0C-1BE9D2F1F940}"/>
              </a:ext>
            </a:extLst>
          </p:cNvPr>
          <p:cNvSpPr txBox="1"/>
          <p:nvPr/>
        </p:nvSpPr>
        <p:spPr>
          <a:xfrm>
            <a:off x="212530" y="1852005"/>
            <a:ext cx="28085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Task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44A7119-F743-3487-1952-7FF6FA917B13}"/>
              </a:ext>
            </a:extLst>
          </p:cNvPr>
          <p:cNvSpPr txBox="1"/>
          <p:nvPr/>
        </p:nvSpPr>
        <p:spPr>
          <a:xfrm>
            <a:off x="138222" y="2373527"/>
            <a:ext cx="30781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“go to the waypoint”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“pass through the gate”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“map the buoy area”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“perform the moves for each buoy”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“survey the pipeline”</a:t>
            </a:r>
            <a:br>
              <a:rPr lang="en-US" dirty="0"/>
            </a:br>
            <a:r>
              <a:rPr lang="en-US" dirty="0"/>
              <a:t>(cannot be performed)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9A6A633C-0FA9-82B3-202D-988AE779B335}"/>
              </a:ext>
            </a:extLst>
          </p:cNvPr>
          <p:cNvSpPr txBox="1"/>
          <p:nvPr/>
        </p:nvSpPr>
        <p:spPr>
          <a:xfrm>
            <a:off x="3368103" y="2384854"/>
            <a:ext cx="42410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correct mission for task 1 and 2 was 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task 3 had to choose between options A and B of the same mission, it picked the correct one by chance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task 4 had to sent each move performing mission one by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Misunderstood surveying the pipeline with surveying and area, issuing every possible survey mission, each one counts as a comprehension error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BBD2D2F-9B36-96F1-7AFE-9399A61EC63A}"/>
              </a:ext>
            </a:extLst>
          </p:cNvPr>
          <p:cNvSpPr txBox="1"/>
          <p:nvPr/>
        </p:nvSpPr>
        <p:spPr>
          <a:xfrm>
            <a:off x="7890753" y="2384854"/>
            <a:ext cx="42410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operator sent each task rephrasing the task item of the list”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time the correct mission was chosen by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task 3 case plan A was selected, when it failed plan B was issued automatically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task 4 request made sure that all necessary move mission were chosen and executed in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answer to task 5 was “skip”, signaling to the operator the task couldn’t be performed</a:t>
            </a:r>
          </a:p>
        </p:txBody>
      </p:sp>
    </p:spTree>
    <p:extLst>
      <p:ext uri="{BB962C8B-B14F-4D97-AF65-F5344CB8AC3E}">
        <p14:creationId xmlns:p14="http://schemas.microsoft.com/office/powerpoint/2010/main" val="1435096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D5301-F00B-1DE3-4F93-C98B17871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A0505A-E8CA-9E6C-CE75-3822DBE9FC88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9C38B5-E85E-629D-5A5E-37FF52FBFC80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C3ECB99-D867-C337-1D2F-760647648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1E3BC4-D9A7-B7AC-231E-78690D2D7F97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C90421C-BB4E-E029-5976-ABAFA0E456A8}"/>
              </a:ext>
            </a:extLst>
          </p:cNvPr>
          <p:cNvSpPr txBox="1"/>
          <p:nvPr/>
        </p:nvSpPr>
        <p:spPr>
          <a:xfrm>
            <a:off x="473342" y="997011"/>
            <a:ext cx="11580435" cy="6001643"/>
          </a:xfrm>
          <a:prstGeom prst="rect">
            <a:avLst/>
          </a:prstGeom>
          <a:noFill/>
        </p:spPr>
        <p:txBody>
          <a:bodyPr wrap="square" numCol="2" rtlCol="0" anchor="ctr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Introduction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Problem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Recent research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Approach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Context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Confidence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Failure</a:t>
            </a: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Model 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Application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Behavior Tree manager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noProof="0" dirty="0">
                <a:solidFill>
                  <a:schemeClr val="bg2">
                    <a:lumMod val="75000"/>
                  </a:schemeClr>
                </a:solidFill>
              </a:rPr>
              <a:t>SLM manager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bg2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endParaRPr lang="en-US" sz="2400" noProof="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>
                <a:solidFill>
                  <a:schemeClr val="bg2">
                    <a:lumMod val="75000"/>
                  </a:schemeClr>
                </a:solidFill>
              </a:rPr>
              <a:t>Results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Training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Confidence and Correctness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Experiments in simulation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bg2">
                  <a:lumMod val="75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noProof="0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247661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8667C-C435-2706-2479-93D23580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661A47-6DA7-32D8-4E75-DFF451D99298}"/>
              </a:ext>
            </a:extLst>
          </p:cNvPr>
          <p:cNvSpPr/>
          <p:nvPr/>
        </p:nvSpPr>
        <p:spPr>
          <a:xfrm>
            <a:off x="0" y="-1"/>
            <a:ext cx="12192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1E8CC0-75E7-77EB-BA4E-A457F060341A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B21E9CE-C0CB-8162-BD67-EF43390CA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147" y="0"/>
            <a:ext cx="2125630" cy="721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B85629-ABA9-6D5A-DF87-426D06CFADB9}"/>
              </a:ext>
            </a:extLst>
          </p:cNvPr>
          <p:cNvSpPr txBox="1"/>
          <p:nvPr/>
        </p:nvSpPr>
        <p:spPr>
          <a:xfrm>
            <a:off x="10905461" y="6339167"/>
            <a:ext cx="1148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22/22</a:t>
            </a:r>
            <a:endParaRPr lang="en-US" sz="2400" noProof="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15AB27-DD08-040F-84C7-6DD942A56692}"/>
              </a:ext>
            </a:extLst>
          </p:cNvPr>
          <p:cNvSpPr txBox="1"/>
          <p:nvPr/>
        </p:nvSpPr>
        <p:spPr>
          <a:xfrm>
            <a:off x="138223" y="6369944"/>
            <a:ext cx="2204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Emilio Gigante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8C1224-C88C-29CE-854F-B8951EA5A674}"/>
              </a:ext>
            </a:extLst>
          </p:cNvPr>
          <p:cNvSpPr txBox="1"/>
          <p:nvPr/>
        </p:nvSpPr>
        <p:spPr>
          <a:xfrm>
            <a:off x="138222" y="131908"/>
            <a:ext cx="8782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bg1"/>
                </a:solidFill>
              </a:rPr>
              <a:t>5. </a:t>
            </a:r>
            <a:r>
              <a:rPr lang="en-US" sz="2400" b="1" noProof="0" dirty="0">
                <a:solidFill>
                  <a:schemeClr val="bg1"/>
                </a:solidFill>
              </a:rPr>
              <a:t>Conclusions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FC44C47-D355-6C49-10F9-B98FFEBBA9A6}"/>
              </a:ext>
            </a:extLst>
          </p:cNvPr>
          <p:cNvCxnSpPr>
            <a:cxnSpLocks/>
          </p:cNvCxnSpPr>
          <p:nvPr/>
        </p:nvCxnSpPr>
        <p:spPr>
          <a:xfrm flipH="1">
            <a:off x="7049386" y="2046385"/>
            <a:ext cx="510363" cy="6542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C089B47-C301-FBDE-7192-A19DF9849885}"/>
              </a:ext>
            </a:extLst>
          </p:cNvPr>
          <p:cNvSpPr txBox="1"/>
          <p:nvPr/>
        </p:nvSpPr>
        <p:spPr>
          <a:xfrm>
            <a:off x="8780722" y="4611561"/>
            <a:ext cx="258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>
                <a:solidFill>
                  <a:schemeClr val="bg1"/>
                </a:solidFill>
              </a:rPr>
              <a:t>Posidonia Oceanica</a:t>
            </a:r>
          </a:p>
        </p:txBody>
      </p:sp>
      <p:sp>
        <p:nvSpPr>
          <p:cNvPr id="8" name="AutoShape 2" descr="Language SVG Vector Icon">
            <a:extLst>
              <a:ext uri="{FF2B5EF4-FFF2-40B4-BE49-F238E27FC236}">
                <a16:creationId xmlns:a16="http://schemas.microsoft.com/office/drawing/2014/main" id="{BABC5164-3F49-4490-9164-56662D4880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9549" y="274737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0B53676-A5A8-7AC5-E142-E26F8B24A5F3}"/>
              </a:ext>
            </a:extLst>
          </p:cNvPr>
          <p:cNvSpPr txBox="1"/>
          <p:nvPr/>
        </p:nvSpPr>
        <p:spPr>
          <a:xfrm>
            <a:off x="337457" y="925286"/>
            <a:ext cx="11462657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Coming back to introduction goals, the system on which the approach was applied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Manages to translate natural language requests into robot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Can be deployed on the AUV on-board computer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Expresses a different degree of confidence for correct and wrong answers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Context awareness is implemented to the extent that the model is trained to recognize the possibilities of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r>
              <a:rPr lang="en-US" sz="2000" b="1" dirty="0"/>
              <a:t>Possible future work could concern</a:t>
            </a:r>
            <a:r>
              <a:rPr lang="en-US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Using human operators for user accessibility experiments, introducing an experience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Testing the model on a wider and more varied range of possibilities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Using more modular behavior trees to better exploit the capabilities of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Perform real experiments on the AUV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1554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2207</Words>
  <Application>Microsoft Office PowerPoint</Application>
  <PresentationFormat>Widescreen</PresentationFormat>
  <Paragraphs>573</Paragraphs>
  <Slides>28</Slides>
  <Notes>28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Courier New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Gabriele Scarpelli</dc:creator>
  <cp:lastModifiedBy>Emilio Gigante</cp:lastModifiedBy>
  <cp:revision>60</cp:revision>
  <dcterms:created xsi:type="dcterms:W3CDTF">2025-09-17T08:39:08Z</dcterms:created>
  <dcterms:modified xsi:type="dcterms:W3CDTF">2025-11-28T11:57:55Z</dcterms:modified>
</cp:coreProperties>
</file>